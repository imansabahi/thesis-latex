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346" r:id="rId2"/>
    <p:sldId id="345" r:id="rId3"/>
    <p:sldId id="347" r:id="rId4"/>
    <p:sldId id="343" r:id="rId5"/>
    <p:sldId id="34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AEA9A8-BE7D-4BAF-95D3-4B905B87282A}"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en-US"/>
        </a:p>
      </dgm:t>
    </dgm:pt>
    <dgm:pt modelId="{67E04080-5D1A-4CB0-A2EE-D42088E76629}">
      <dgm:prSet phldrT="[Text]"/>
      <dgm:spPr>
        <a:solidFill>
          <a:srgbClr val="00B050"/>
        </a:solidFill>
      </dgm:spPr>
      <dgm:t>
        <a:bodyPr/>
        <a:lstStyle/>
        <a:p>
          <a:r>
            <a:rPr lang="en-US" b="1" dirty="0"/>
            <a:t>Objective: </a:t>
          </a:r>
        </a:p>
        <a:p>
          <a:r>
            <a:rPr lang="en-US" dirty="0"/>
            <a:t>Which scientific gaps are addressed?</a:t>
          </a:r>
        </a:p>
      </dgm:t>
    </dgm:pt>
    <dgm:pt modelId="{87A8630D-65A9-44D2-873B-4147615AAE3A}" type="parTrans" cxnId="{81F34995-4716-412E-9E42-54F1161CED43}">
      <dgm:prSet/>
      <dgm:spPr/>
      <dgm:t>
        <a:bodyPr/>
        <a:lstStyle/>
        <a:p>
          <a:endParaRPr lang="en-US"/>
        </a:p>
      </dgm:t>
    </dgm:pt>
    <dgm:pt modelId="{B96C4CBF-D07B-42D2-9264-AF71C9540D58}" type="sibTrans" cxnId="{81F34995-4716-412E-9E42-54F1161CED43}">
      <dgm:prSet/>
      <dgm:spPr/>
      <dgm:t>
        <a:bodyPr/>
        <a:lstStyle/>
        <a:p>
          <a:endParaRPr lang="en-US"/>
        </a:p>
      </dgm:t>
    </dgm:pt>
    <dgm:pt modelId="{6A96D63C-AF76-4192-BE45-455C8E859700}">
      <dgm:prSet phldrT="[Text]"/>
      <dgm:spPr>
        <a:solidFill>
          <a:srgbClr val="00B0F0"/>
        </a:solidFill>
      </dgm:spPr>
      <dgm:t>
        <a:bodyPr/>
        <a:lstStyle/>
        <a:p>
          <a:r>
            <a:rPr lang="en-US" b="1" dirty="0"/>
            <a:t>Contribution:</a:t>
          </a:r>
        </a:p>
        <a:p>
          <a:r>
            <a:rPr lang="en-US" dirty="0"/>
            <a:t>What claim is shown or debunked? What is illustrated? What are the key takeaways of the research? </a:t>
          </a:r>
        </a:p>
      </dgm:t>
    </dgm:pt>
    <dgm:pt modelId="{4D58D415-73B3-433D-9EA4-12DE9963776B}" type="parTrans" cxnId="{DB7E3BDA-5D72-466F-AF5A-32DD828535AC}">
      <dgm:prSet/>
      <dgm:spPr/>
      <dgm:t>
        <a:bodyPr/>
        <a:lstStyle/>
        <a:p>
          <a:endParaRPr lang="en-US"/>
        </a:p>
      </dgm:t>
    </dgm:pt>
    <dgm:pt modelId="{5001F1B7-1A02-4352-AAA5-6D324564BA50}" type="sibTrans" cxnId="{DB7E3BDA-5D72-466F-AF5A-32DD828535AC}">
      <dgm:prSet/>
      <dgm:spPr/>
      <dgm:t>
        <a:bodyPr/>
        <a:lstStyle/>
        <a:p>
          <a:endParaRPr lang="en-US"/>
        </a:p>
      </dgm:t>
    </dgm:pt>
    <dgm:pt modelId="{7CC5A585-AE91-4581-A382-78CE0B55B1DD}">
      <dgm:prSet phldrT="[Text]"/>
      <dgm:spPr>
        <a:solidFill>
          <a:schemeClr val="accent5">
            <a:lumMod val="75000"/>
          </a:schemeClr>
        </a:solidFill>
      </dgm:spPr>
      <dgm:t>
        <a:bodyPr/>
        <a:lstStyle/>
        <a:p>
          <a:r>
            <a:rPr lang="en-US" b="1" dirty="0"/>
            <a:t>Approach</a:t>
          </a:r>
          <a:r>
            <a:rPr lang="en-US" dirty="0"/>
            <a:t>:</a:t>
          </a:r>
        </a:p>
        <a:p>
          <a:r>
            <a:rPr lang="en-US" dirty="0"/>
            <a:t>How is it validated or proven?</a:t>
          </a:r>
        </a:p>
      </dgm:t>
    </dgm:pt>
    <dgm:pt modelId="{A9E60756-E600-4588-981D-ED0EABAFE7CD}" type="parTrans" cxnId="{5DE0F084-69B2-4ADE-90E2-F496B2F931FC}">
      <dgm:prSet/>
      <dgm:spPr/>
      <dgm:t>
        <a:bodyPr/>
        <a:lstStyle/>
        <a:p>
          <a:endParaRPr lang="en-US"/>
        </a:p>
      </dgm:t>
    </dgm:pt>
    <dgm:pt modelId="{C7DFA04E-0C5C-4ADD-8010-93E935AA120F}" type="sibTrans" cxnId="{5DE0F084-69B2-4ADE-90E2-F496B2F931FC}">
      <dgm:prSet/>
      <dgm:spPr/>
      <dgm:t>
        <a:bodyPr/>
        <a:lstStyle/>
        <a:p>
          <a:endParaRPr lang="en-US"/>
        </a:p>
      </dgm:t>
    </dgm:pt>
    <dgm:pt modelId="{1252E385-146A-4A9B-A08D-7B92388DED84}">
      <dgm:prSet phldrT="[Text]"/>
      <dgm:spPr>
        <a:solidFill>
          <a:schemeClr val="accent5">
            <a:lumMod val="75000"/>
          </a:schemeClr>
        </a:solidFill>
      </dgm:spPr>
      <dgm:t>
        <a:bodyPr/>
        <a:lstStyle/>
        <a:p>
          <a:r>
            <a:rPr lang="en-US" b="1" dirty="0"/>
            <a:t>Approach</a:t>
          </a:r>
          <a:r>
            <a:rPr lang="en-US" dirty="0"/>
            <a:t>:</a:t>
          </a:r>
        </a:p>
        <a:p>
          <a:r>
            <a:rPr lang="en-US" dirty="0"/>
            <a:t>Which SOTA methods have been applied?</a:t>
          </a:r>
        </a:p>
      </dgm:t>
    </dgm:pt>
    <dgm:pt modelId="{2615DC23-05F9-4AC8-8136-1DF65AAA77DE}" type="parTrans" cxnId="{651D2149-DCF7-487B-B90C-C3DFD9E7E886}">
      <dgm:prSet/>
      <dgm:spPr/>
      <dgm:t>
        <a:bodyPr/>
        <a:lstStyle/>
        <a:p>
          <a:endParaRPr lang="en-US"/>
        </a:p>
      </dgm:t>
    </dgm:pt>
    <dgm:pt modelId="{BB9F75C3-A3CA-41D6-89D5-226DEE586636}" type="sibTrans" cxnId="{651D2149-DCF7-487B-B90C-C3DFD9E7E886}">
      <dgm:prSet/>
      <dgm:spPr/>
      <dgm:t>
        <a:bodyPr/>
        <a:lstStyle/>
        <a:p>
          <a:endParaRPr lang="en-US"/>
        </a:p>
      </dgm:t>
    </dgm:pt>
    <dgm:pt modelId="{FFA6AE41-D40F-4849-A341-46364EFC2EB9}">
      <dgm:prSet phldrT="[Text]"/>
      <dgm:spPr>
        <a:solidFill>
          <a:srgbClr val="00B0F0"/>
        </a:solidFill>
      </dgm:spPr>
      <dgm:t>
        <a:bodyPr/>
        <a:lstStyle/>
        <a:p>
          <a:r>
            <a:rPr lang="en-US" b="1" dirty="0"/>
            <a:t>Contribution:</a:t>
          </a:r>
        </a:p>
        <a:p>
          <a:r>
            <a:rPr lang="en-US" dirty="0"/>
            <a:t>Which learnings you had?</a:t>
          </a:r>
        </a:p>
      </dgm:t>
    </dgm:pt>
    <dgm:pt modelId="{A7491AC5-8842-43B3-819B-CF5382AB9423}" type="parTrans" cxnId="{124A285C-35F1-462E-BD3E-C087504951DD}">
      <dgm:prSet/>
      <dgm:spPr/>
      <dgm:t>
        <a:bodyPr/>
        <a:lstStyle/>
        <a:p>
          <a:endParaRPr lang="en-US"/>
        </a:p>
      </dgm:t>
    </dgm:pt>
    <dgm:pt modelId="{60C72B8F-FFE6-4DBE-A358-57A35DE07AEB}" type="sibTrans" cxnId="{124A285C-35F1-462E-BD3E-C087504951DD}">
      <dgm:prSet/>
      <dgm:spPr/>
      <dgm:t>
        <a:bodyPr/>
        <a:lstStyle/>
        <a:p>
          <a:endParaRPr lang="en-US"/>
        </a:p>
      </dgm:t>
    </dgm:pt>
    <dgm:pt modelId="{D4A0719F-BBD4-47B0-BE39-C497CD3E8381}">
      <dgm:prSet phldrT="[Text]"/>
      <dgm:spPr>
        <a:solidFill>
          <a:schemeClr val="accent5">
            <a:lumMod val="75000"/>
          </a:schemeClr>
        </a:solidFill>
      </dgm:spPr>
      <dgm:t>
        <a:bodyPr/>
        <a:lstStyle/>
        <a:p>
          <a:r>
            <a:rPr lang="en-US" b="1" dirty="0"/>
            <a:t>Approach</a:t>
          </a:r>
          <a:r>
            <a:rPr lang="en-US" dirty="0"/>
            <a:t>: </a:t>
          </a:r>
        </a:p>
        <a:p>
          <a:r>
            <a:rPr lang="en-US" dirty="0"/>
            <a:t>How is the solution framework implemented?</a:t>
          </a:r>
        </a:p>
      </dgm:t>
    </dgm:pt>
    <dgm:pt modelId="{95CEF684-06FE-4B7B-968A-CF75EF3ADB05}" type="parTrans" cxnId="{CF0DA4A4-A248-498E-85E1-3932ED7F4E23}">
      <dgm:prSet/>
      <dgm:spPr/>
      <dgm:t>
        <a:bodyPr/>
        <a:lstStyle/>
        <a:p>
          <a:endParaRPr lang="en-US"/>
        </a:p>
      </dgm:t>
    </dgm:pt>
    <dgm:pt modelId="{FF96A082-5747-43FD-9794-F9D385C14BF0}" type="sibTrans" cxnId="{CF0DA4A4-A248-498E-85E1-3932ED7F4E23}">
      <dgm:prSet/>
      <dgm:spPr/>
      <dgm:t>
        <a:bodyPr/>
        <a:lstStyle/>
        <a:p>
          <a:endParaRPr lang="en-US"/>
        </a:p>
      </dgm:t>
    </dgm:pt>
    <dgm:pt modelId="{E9853077-4BE8-40F9-A84E-ADEDD566E859}" type="pres">
      <dgm:prSet presAssocID="{F1AEA9A8-BE7D-4BAF-95D3-4B905B87282A}" presName="Name0" presStyleCnt="0">
        <dgm:presLayoutVars>
          <dgm:chPref val="1"/>
          <dgm:dir/>
          <dgm:animOne val="branch"/>
          <dgm:animLvl val="lvl"/>
          <dgm:resizeHandles/>
        </dgm:presLayoutVars>
      </dgm:prSet>
      <dgm:spPr/>
    </dgm:pt>
    <dgm:pt modelId="{32BD4031-2FB8-452A-99AA-AC302E082F4E}" type="pres">
      <dgm:prSet presAssocID="{67E04080-5D1A-4CB0-A2EE-D42088E76629}" presName="vertOne" presStyleCnt="0"/>
      <dgm:spPr/>
    </dgm:pt>
    <dgm:pt modelId="{A61F6701-1ECE-4E72-A395-434344891D2E}" type="pres">
      <dgm:prSet presAssocID="{67E04080-5D1A-4CB0-A2EE-D42088E76629}" presName="txOne" presStyleLbl="node0" presStyleIdx="0" presStyleCnt="1">
        <dgm:presLayoutVars>
          <dgm:chPref val="3"/>
        </dgm:presLayoutVars>
      </dgm:prSet>
      <dgm:spPr/>
    </dgm:pt>
    <dgm:pt modelId="{0B82A8B5-09C0-46F6-8447-6898518B1A16}" type="pres">
      <dgm:prSet presAssocID="{67E04080-5D1A-4CB0-A2EE-D42088E76629}" presName="parTransOne" presStyleCnt="0"/>
      <dgm:spPr/>
    </dgm:pt>
    <dgm:pt modelId="{BC7D40AC-D1EA-4E0F-B0EC-C5314697877C}" type="pres">
      <dgm:prSet presAssocID="{67E04080-5D1A-4CB0-A2EE-D42088E76629}" presName="horzOne" presStyleCnt="0"/>
      <dgm:spPr/>
    </dgm:pt>
    <dgm:pt modelId="{905C518B-FC47-4191-9B20-C16B40743445}" type="pres">
      <dgm:prSet presAssocID="{6A96D63C-AF76-4192-BE45-455C8E859700}" presName="vertTwo" presStyleCnt="0"/>
      <dgm:spPr/>
    </dgm:pt>
    <dgm:pt modelId="{DA1C8F5E-FAFF-4375-983D-7E7E5BE3D94A}" type="pres">
      <dgm:prSet presAssocID="{6A96D63C-AF76-4192-BE45-455C8E859700}" presName="txTwo" presStyleLbl="node2" presStyleIdx="0" presStyleCnt="2">
        <dgm:presLayoutVars>
          <dgm:chPref val="3"/>
        </dgm:presLayoutVars>
      </dgm:prSet>
      <dgm:spPr/>
    </dgm:pt>
    <dgm:pt modelId="{2CDD73C5-7F53-43BE-B158-876FE9245752}" type="pres">
      <dgm:prSet presAssocID="{6A96D63C-AF76-4192-BE45-455C8E859700}" presName="parTransTwo" presStyleCnt="0"/>
      <dgm:spPr/>
    </dgm:pt>
    <dgm:pt modelId="{FC7AC215-3BCE-44B6-B838-756DCEFD731E}" type="pres">
      <dgm:prSet presAssocID="{6A96D63C-AF76-4192-BE45-455C8E859700}" presName="horzTwo" presStyleCnt="0"/>
      <dgm:spPr/>
    </dgm:pt>
    <dgm:pt modelId="{DB0D6153-DB66-400D-BC1A-B75460677D5B}" type="pres">
      <dgm:prSet presAssocID="{7CC5A585-AE91-4581-A382-78CE0B55B1DD}" presName="vertThree" presStyleCnt="0"/>
      <dgm:spPr/>
    </dgm:pt>
    <dgm:pt modelId="{EAB3DD50-7FE9-4475-AB91-15B098AF1BD8}" type="pres">
      <dgm:prSet presAssocID="{7CC5A585-AE91-4581-A382-78CE0B55B1DD}" presName="txThree" presStyleLbl="node3" presStyleIdx="0" presStyleCnt="3">
        <dgm:presLayoutVars>
          <dgm:chPref val="3"/>
        </dgm:presLayoutVars>
      </dgm:prSet>
      <dgm:spPr/>
    </dgm:pt>
    <dgm:pt modelId="{66B2DC89-4189-4E53-A8E9-57447982AE79}" type="pres">
      <dgm:prSet presAssocID="{7CC5A585-AE91-4581-A382-78CE0B55B1DD}" presName="horzThree" presStyleCnt="0"/>
      <dgm:spPr/>
    </dgm:pt>
    <dgm:pt modelId="{996024E7-F66B-450B-9620-95A888BAFB84}" type="pres">
      <dgm:prSet presAssocID="{C7DFA04E-0C5C-4ADD-8010-93E935AA120F}" presName="sibSpaceThree" presStyleCnt="0"/>
      <dgm:spPr/>
    </dgm:pt>
    <dgm:pt modelId="{22AA079D-0EEA-471E-B7D3-6CBA6C0C9AE7}" type="pres">
      <dgm:prSet presAssocID="{1252E385-146A-4A9B-A08D-7B92388DED84}" presName="vertThree" presStyleCnt="0"/>
      <dgm:spPr/>
    </dgm:pt>
    <dgm:pt modelId="{DE2B3CBD-78C7-45B3-952C-BCC00AA9690F}" type="pres">
      <dgm:prSet presAssocID="{1252E385-146A-4A9B-A08D-7B92388DED84}" presName="txThree" presStyleLbl="node3" presStyleIdx="1" presStyleCnt="3">
        <dgm:presLayoutVars>
          <dgm:chPref val="3"/>
        </dgm:presLayoutVars>
      </dgm:prSet>
      <dgm:spPr/>
    </dgm:pt>
    <dgm:pt modelId="{FFDE2D1D-CC6E-44C6-BA64-8D58CDEEF59F}" type="pres">
      <dgm:prSet presAssocID="{1252E385-146A-4A9B-A08D-7B92388DED84}" presName="horzThree" presStyleCnt="0"/>
      <dgm:spPr/>
    </dgm:pt>
    <dgm:pt modelId="{CEE48251-CB90-4EB7-92DD-DE889753AA87}" type="pres">
      <dgm:prSet presAssocID="{5001F1B7-1A02-4352-AAA5-6D324564BA50}" presName="sibSpaceTwo" presStyleCnt="0"/>
      <dgm:spPr/>
    </dgm:pt>
    <dgm:pt modelId="{CD1271BB-743A-4815-89C5-D725472D3A27}" type="pres">
      <dgm:prSet presAssocID="{FFA6AE41-D40F-4849-A341-46364EFC2EB9}" presName="vertTwo" presStyleCnt="0"/>
      <dgm:spPr/>
    </dgm:pt>
    <dgm:pt modelId="{CB21D80B-A374-4F20-9CB5-AC220C608030}" type="pres">
      <dgm:prSet presAssocID="{FFA6AE41-D40F-4849-A341-46364EFC2EB9}" presName="txTwo" presStyleLbl="node2" presStyleIdx="1" presStyleCnt="2">
        <dgm:presLayoutVars>
          <dgm:chPref val="3"/>
        </dgm:presLayoutVars>
      </dgm:prSet>
      <dgm:spPr/>
    </dgm:pt>
    <dgm:pt modelId="{214BE0E2-52CD-46A6-9C3C-6C307FEAA6D9}" type="pres">
      <dgm:prSet presAssocID="{FFA6AE41-D40F-4849-A341-46364EFC2EB9}" presName="parTransTwo" presStyleCnt="0"/>
      <dgm:spPr/>
    </dgm:pt>
    <dgm:pt modelId="{ADD6DE22-55AD-4062-96E6-2D8DE8E873C0}" type="pres">
      <dgm:prSet presAssocID="{FFA6AE41-D40F-4849-A341-46364EFC2EB9}" presName="horzTwo" presStyleCnt="0"/>
      <dgm:spPr/>
    </dgm:pt>
    <dgm:pt modelId="{4F352824-1849-448F-889C-72E10D1947F4}" type="pres">
      <dgm:prSet presAssocID="{D4A0719F-BBD4-47B0-BE39-C497CD3E8381}" presName="vertThree" presStyleCnt="0"/>
      <dgm:spPr/>
    </dgm:pt>
    <dgm:pt modelId="{8D2119CF-3436-4CE6-A50D-1F4330A73CB8}" type="pres">
      <dgm:prSet presAssocID="{D4A0719F-BBD4-47B0-BE39-C497CD3E8381}" presName="txThree" presStyleLbl="node3" presStyleIdx="2" presStyleCnt="3">
        <dgm:presLayoutVars>
          <dgm:chPref val="3"/>
        </dgm:presLayoutVars>
      </dgm:prSet>
      <dgm:spPr/>
    </dgm:pt>
    <dgm:pt modelId="{C0BB3E00-1D3C-40EE-BF88-2B86121AAE1B}" type="pres">
      <dgm:prSet presAssocID="{D4A0719F-BBD4-47B0-BE39-C497CD3E8381}" presName="horzThree" presStyleCnt="0"/>
      <dgm:spPr/>
    </dgm:pt>
  </dgm:ptLst>
  <dgm:cxnLst>
    <dgm:cxn modelId="{9C65C103-D21E-4422-891C-4FC18749350B}" type="presOf" srcId="{1252E385-146A-4A9B-A08D-7B92388DED84}" destId="{DE2B3CBD-78C7-45B3-952C-BCC00AA9690F}" srcOrd="0" destOrd="0" presId="urn:microsoft.com/office/officeart/2005/8/layout/hierarchy4"/>
    <dgm:cxn modelId="{AF660733-63E0-4B3F-92C4-ABDB4B0709B5}" type="presOf" srcId="{67E04080-5D1A-4CB0-A2EE-D42088E76629}" destId="{A61F6701-1ECE-4E72-A395-434344891D2E}" srcOrd="0" destOrd="0" presId="urn:microsoft.com/office/officeart/2005/8/layout/hierarchy4"/>
    <dgm:cxn modelId="{124A285C-35F1-462E-BD3E-C087504951DD}" srcId="{67E04080-5D1A-4CB0-A2EE-D42088E76629}" destId="{FFA6AE41-D40F-4849-A341-46364EFC2EB9}" srcOrd="1" destOrd="0" parTransId="{A7491AC5-8842-43B3-819B-CF5382AB9423}" sibTransId="{60C72B8F-FFE6-4DBE-A358-57A35DE07AEB}"/>
    <dgm:cxn modelId="{651D2149-DCF7-487B-B90C-C3DFD9E7E886}" srcId="{6A96D63C-AF76-4192-BE45-455C8E859700}" destId="{1252E385-146A-4A9B-A08D-7B92388DED84}" srcOrd="1" destOrd="0" parTransId="{2615DC23-05F9-4AC8-8136-1DF65AAA77DE}" sibTransId="{BB9F75C3-A3CA-41D6-89D5-226DEE586636}"/>
    <dgm:cxn modelId="{15C4724E-B433-4B21-8773-12C58834327C}" type="presOf" srcId="{F1AEA9A8-BE7D-4BAF-95D3-4B905B87282A}" destId="{E9853077-4BE8-40F9-A84E-ADEDD566E859}" srcOrd="0" destOrd="0" presId="urn:microsoft.com/office/officeart/2005/8/layout/hierarchy4"/>
    <dgm:cxn modelId="{3A4F7B6F-39D1-46FF-B748-0432F8539229}" type="presOf" srcId="{7CC5A585-AE91-4581-A382-78CE0B55B1DD}" destId="{EAB3DD50-7FE9-4475-AB91-15B098AF1BD8}" srcOrd="0" destOrd="0" presId="urn:microsoft.com/office/officeart/2005/8/layout/hierarchy4"/>
    <dgm:cxn modelId="{0185B980-331A-47F4-A3E4-0E2506B2E6DA}" type="presOf" srcId="{6A96D63C-AF76-4192-BE45-455C8E859700}" destId="{DA1C8F5E-FAFF-4375-983D-7E7E5BE3D94A}" srcOrd="0" destOrd="0" presId="urn:microsoft.com/office/officeart/2005/8/layout/hierarchy4"/>
    <dgm:cxn modelId="{5DE0F084-69B2-4ADE-90E2-F496B2F931FC}" srcId="{6A96D63C-AF76-4192-BE45-455C8E859700}" destId="{7CC5A585-AE91-4581-A382-78CE0B55B1DD}" srcOrd="0" destOrd="0" parTransId="{A9E60756-E600-4588-981D-ED0EABAFE7CD}" sibTransId="{C7DFA04E-0C5C-4ADD-8010-93E935AA120F}"/>
    <dgm:cxn modelId="{81F34995-4716-412E-9E42-54F1161CED43}" srcId="{F1AEA9A8-BE7D-4BAF-95D3-4B905B87282A}" destId="{67E04080-5D1A-4CB0-A2EE-D42088E76629}" srcOrd="0" destOrd="0" parTransId="{87A8630D-65A9-44D2-873B-4147615AAE3A}" sibTransId="{B96C4CBF-D07B-42D2-9264-AF71C9540D58}"/>
    <dgm:cxn modelId="{ECB11F9B-6F13-4D3D-B426-60472CDD8A3A}" type="presOf" srcId="{D4A0719F-BBD4-47B0-BE39-C497CD3E8381}" destId="{8D2119CF-3436-4CE6-A50D-1F4330A73CB8}" srcOrd="0" destOrd="0" presId="urn:microsoft.com/office/officeart/2005/8/layout/hierarchy4"/>
    <dgm:cxn modelId="{CF0DA4A4-A248-498E-85E1-3932ED7F4E23}" srcId="{FFA6AE41-D40F-4849-A341-46364EFC2EB9}" destId="{D4A0719F-BBD4-47B0-BE39-C497CD3E8381}" srcOrd="0" destOrd="0" parTransId="{95CEF684-06FE-4B7B-968A-CF75EF3ADB05}" sibTransId="{FF96A082-5747-43FD-9794-F9D385C14BF0}"/>
    <dgm:cxn modelId="{DB7E3BDA-5D72-466F-AF5A-32DD828535AC}" srcId="{67E04080-5D1A-4CB0-A2EE-D42088E76629}" destId="{6A96D63C-AF76-4192-BE45-455C8E859700}" srcOrd="0" destOrd="0" parTransId="{4D58D415-73B3-433D-9EA4-12DE9963776B}" sibTransId="{5001F1B7-1A02-4352-AAA5-6D324564BA50}"/>
    <dgm:cxn modelId="{68B42DF2-EFE4-4FF9-9E5E-03686FCCA7E0}" type="presOf" srcId="{FFA6AE41-D40F-4849-A341-46364EFC2EB9}" destId="{CB21D80B-A374-4F20-9CB5-AC220C608030}" srcOrd="0" destOrd="0" presId="urn:microsoft.com/office/officeart/2005/8/layout/hierarchy4"/>
    <dgm:cxn modelId="{E11032ED-B871-4434-B0C7-5D36BD702A0A}" type="presParOf" srcId="{E9853077-4BE8-40F9-A84E-ADEDD566E859}" destId="{32BD4031-2FB8-452A-99AA-AC302E082F4E}" srcOrd="0" destOrd="0" presId="urn:microsoft.com/office/officeart/2005/8/layout/hierarchy4"/>
    <dgm:cxn modelId="{E0F5046F-C137-4BBA-A07B-E544581B5E5C}" type="presParOf" srcId="{32BD4031-2FB8-452A-99AA-AC302E082F4E}" destId="{A61F6701-1ECE-4E72-A395-434344891D2E}" srcOrd="0" destOrd="0" presId="urn:microsoft.com/office/officeart/2005/8/layout/hierarchy4"/>
    <dgm:cxn modelId="{ABF8E28C-B2B1-4FDF-8FBF-4B49E2B69454}" type="presParOf" srcId="{32BD4031-2FB8-452A-99AA-AC302E082F4E}" destId="{0B82A8B5-09C0-46F6-8447-6898518B1A16}" srcOrd="1" destOrd="0" presId="urn:microsoft.com/office/officeart/2005/8/layout/hierarchy4"/>
    <dgm:cxn modelId="{420DDE81-9460-4CE9-907E-27D96D6C6D6D}" type="presParOf" srcId="{32BD4031-2FB8-452A-99AA-AC302E082F4E}" destId="{BC7D40AC-D1EA-4E0F-B0EC-C5314697877C}" srcOrd="2" destOrd="0" presId="urn:microsoft.com/office/officeart/2005/8/layout/hierarchy4"/>
    <dgm:cxn modelId="{E296C433-8159-4402-978B-220891575FDA}" type="presParOf" srcId="{BC7D40AC-D1EA-4E0F-B0EC-C5314697877C}" destId="{905C518B-FC47-4191-9B20-C16B40743445}" srcOrd="0" destOrd="0" presId="urn:microsoft.com/office/officeart/2005/8/layout/hierarchy4"/>
    <dgm:cxn modelId="{E149412C-2466-4665-94B1-EE95714BB70A}" type="presParOf" srcId="{905C518B-FC47-4191-9B20-C16B40743445}" destId="{DA1C8F5E-FAFF-4375-983D-7E7E5BE3D94A}" srcOrd="0" destOrd="0" presId="urn:microsoft.com/office/officeart/2005/8/layout/hierarchy4"/>
    <dgm:cxn modelId="{BDEEF50C-021C-4B6E-90DF-68EC5BF8F85A}" type="presParOf" srcId="{905C518B-FC47-4191-9B20-C16B40743445}" destId="{2CDD73C5-7F53-43BE-B158-876FE9245752}" srcOrd="1" destOrd="0" presId="urn:microsoft.com/office/officeart/2005/8/layout/hierarchy4"/>
    <dgm:cxn modelId="{A2EF613B-C361-4A79-A84D-82EA4B131AA2}" type="presParOf" srcId="{905C518B-FC47-4191-9B20-C16B40743445}" destId="{FC7AC215-3BCE-44B6-B838-756DCEFD731E}" srcOrd="2" destOrd="0" presId="urn:microsoft.com/office/officeart/2005/8/layout/hierarchy4"/>
    <dgm:cxn modelId="{DFFE55AE-178E-4419-8CEC-AEBA0D6E2A88}" type="presParOf" srcId="{FC7AC215-3BCE-44B6-B838-756DCEFD731E}" destId="{DB0D6153-DB66-400D-BC1A-B75460677D5B}" srcOrd="0" destOrd="0" presId="urn:microsoft.com/office/officeart/2005/8/layout/hierarchy4"/>
    <dgm:cxn modelId="{19333F98-8782-409E-83C9-79778843A85A}" type="presParOf" srcId="{DB0D6153-DB66-400D-BC1A-B75460677D5B}" destId="{EAB3DD50-7FE9-4475-AB91-15B098AF1BD8}" srcOrd="0" destOrd="0" presId="urn:microsoft.com/office/officeart/2005/8/layout/hierarchy4"/>
    <dgm:cxn modelId="{659802F2-E137-4C5A-8AF3-F13DC83ED768}" type="presParOf" srcId="{DB0D6153-DB66-400D-BC1A-B75460677D5B}" destId="{66B2DC89-4189-4E53-A8E9-57447982AE79}" srcOrd="1" destOrd="0" presId="urn:microsoft.com/office/officeart/2005/8/layout/hierarchy4"/>
    <dgm:cxn modelId="{C28941C9-F0F5-4D8C-83E1-0B96FDB8C84B}" type="presParOf" srcId="{FC7AC215-3BCE-44B6-B838-756DCEFD731E}" destId="{996024E7-F66B-450B-9620-95A888BAFB84}" srcOrd="1" destOrd="0" presId="urn:microsoft.com/office/officeart/2005/8/layout/hierarchy4"/>
    <dgm:cxn modelId="{E25C9A41-8B89-4931-BD17-7F68246686B5}" type="presParOf" srcId="{FC7AC215-3BCE-44B6-B838-756DCEFD731E}" destId="{22AA079D-0EEA-471E-B7D3-6CBA6C0C9AE7}" srcOrd="2" destOrd="0" presId="urn:microsoft.com/office/officeart/2005/8/layout/hierarchy4"/>
    <dgm:cxn modelId="{B454EB0D-ABB0-43B0-AD9F-EB250AB84E02}" type="presParOf" srcId="{22AA079D-0EEA-471E-B7D3-6CBA6C0C9AE7}" destId="{DE2B3CBD-78C7-45B3-952C-BCC00AA9690F}" srcOrd="0" destOrd="0" presId="urn:microsoft.com/office/officeart/2005/8/layout/hierarchy4"/>
    <dgm:cxn modelId="{76672545-F96F-49F8-B570-6BD0EAA08607}" type="presParOf" srcId="{22AA079D-0EEA-471E-B7D3-6CBA6C0C9AE7}" destId="{FFDE2D1D-CC6E-44C6-BA64-8D58CDEEF59F}" srcOrd="1" destOrd="0" presId="urn:microsoft.com/office/officeart/2005/8/layout/hierarchy4"/>
    <dgm:cxn modelId="{B53ADFC6-9AB8-4538-84A5-3919B6EB7777}" type="presParOf" srcId="{BC7D40AC-D1EA-4E0F-B0EC-C5314697877C}" destId="{CEE48251-CB90-4EB7-92DD-DE889753AA87}" srcOrd="1" destOrd="0" presId="urn:microsoft.com/office/officeart/2005/8/layout/hierarchy4"/>
    <dgm:cxn modelId="{A3C367F6-17E0-4F84-82B6-3370ACF331C1}" type="presParOf" srcId="{BC7D40AC-D1EA-4E0F-B0EC-C5314697877C}" destId="{CD1271BB-743A-4815-89C5-D725472D3A27}" srcOrd="2" destOrd="0" presId="urn:microsoft.com/office/officeart/2005/8/layout/hierarchy4"/>
    <dgm:cxn modelId="{1BD0375B-1EAC-447F-9E1C-BC7CEECC2AD0}" type="presParOf" srcId="{CD1271BB-743A-4815-89C5-D725472D3A27}" destId="{CB21D80B-A374-4F20-9CB5-AC220C608030}" srcOrd="0" destOrd="0" presId="urn:microsoft.com/office/officeart/2005/8/layout/hierarchy4"/>
    <dgm:cxn modelId="{7BE0E0B4-48C2-4BE7-AC48-388443172977}" type="presParOf" srcId="{CD1271BB-743A-4815-89C5-D725472D3A27}" destId="{214BE0E2-52CD-46A6-9C3C-6C307FEAA6D9}" srcOrd="1" destOrd="0" presId="urn:microsoft.com/office/officeart/2005/8/layout/hierarchy4"/>
    <dgm:cxn modelId="{6A1FADDC-9B13-4A39-A4DD-2B12E1ECD907}" type="presParOf" srcId="{CD1271BB-743A-4815-89C5-D725472D3A27}" destId="{ADD6DE22-55AD-4062-96E6-2D8DE8E873C0}" srcOrd="2" destOrd="0" presId="urn:microsoft.com/office/officeart/2005/8/layout/hierarchy4"/>
    <dgm:cxn modelId="{BD90EA80-1274-46E9-9247-4E39AF9FFD19}" type="presParOf" srcId="{ADD6DE22-55AD-4062-96E6-2D8DE8E873C0}" destId="{4F352824-1849-448F-889C-72E10D1947F4}" srcOrd="0" destOrd="0" presId="urn:microsoft.com/office/officeart/2005/8/layout/hierarchy4"/>
    <dgm:cxn modelId="{C1A3F22B-5AA5-4D68-9454-495C6D335D3B}" type="presParOf" srcId="{4F352824-1849-448F-889C-72E10D1947F4}" destId="{8D2119CF-3436-4CE6-A50D-1F4330A73CB8}" srcOrd="0" destOrd="0" presId="urn:microsoft.com/office/officeart/2005/8/layout/hierarchy4"/>
    <dgm:cxn modelId="{EC0E18D4-0EF3-4345-9D12-C7ABEF0C6910}" type="presParOf" srcId="{4F352824-1849-448F-889C-72E10D1947F4}" destId="{C0BB3E00-1D3C-40EE-BF88-2B86121AAE1B}"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1F6701-1ECE-4E72-A395-434344891D2E}">
      <dsp:nvSpPr>
        <dsp:cNvPr id="0" name=""/>
        <dsp:cNvSpPr/>
      </dsp:nvSpPr>
      <dsp:spPr>
        <a:xfrm>
          <a:off x="616" y="932"/>
          <a:ext cx="5372992" cy="1279445"/>
        </a:xfrm>
        <a:prstGeom prst="roundRect">
          <a:avLst>
            <a:gd name="adj" fmla="val 10000"/>
          </a:avLst>
        </a:prstGeom>
        <a:solidFill>
          <a:srgbClr val="00B05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1" kern="1200" dirty="0"/>
            <a:t>Objective: </a:t>
          </a:r>
        </a:p>
        <a:p>
          <a:pPr marL="0" lvl="0" indent="0" algn="ctr" defTabSz="1111250">
            <a:lnSpc>
              <a:spcPct val="90000"/>
            </a:lnSpc>
            <a:spcBef>
              <a:spcPct val="0"/>
            </a:spcBef>
            <a:spcAft>
              <a:spcPct val="35000"/>
            </a:spcAft>
            <a:buNone/>
          </a:pPr>
          <a:r>
            <a:rPr lang="en-US" sz="2500" kern="1200" dirty="0"/>
            <a:t>Which scientific gaps are addressed?</a:t>
          </a:r>
        </a:p>
      </dsp:txBody>
      <dsp:txXfrm>
        <a:off x="38090" y="38406"/>
        <a:ext cx="5298044" cy="1204497"/>
      </dsp:txXfrm>
    </dsp:sp>
    <dsp:sp modelId="{DA1C8F5E-FAFF-4375-983D-7E7E5BE3D94A}">
      <dsp:nvSpPr>
        <dsp:cNvPr id="0" name=""/>
        <dsp:cNvSpPr/>
      </dsp:nvSpPr>
      <dsp:spPr>
        <a:xfrm>
          <a:off x="616" y="1375895"/>
          <a:ext cx="3509805" cy="1279445"/>
        </a:xfrm>
        <a:prstGeom prst="roundRect">
          <a:avLst>
            <a:gd name="adj" fmla="val 10000"/>
          </a:avLst>
        </a:prstGeom>
        <a:solidFill>
          <a:srgbClr val="00B0F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Contribution:</a:t>
          </a:r>
        </a:p>
        <a:p>
          <a:pPr marL="0" lvl="0" indent="0" algn="ctr" defTabSz="755650">
            <a:lnSpc>
              <a:spcPct val="90000"/>
            </a:lnSpc>
            <a:spcBef>
              <a:spcPct val="0"/>
            </a:spcBef>
            <a:spcAft>
              <a:spcPct val="35000"/>
            </a:spcAft>
            <a:buNone/>
          </a:pPr>
          <a:r>
            <a:rPr lang="en-US" sz="1700" kern="1200" dirty="0"/>
            <a:t>What claim is shown or debunked? What is illustrated? What are the key takeaways of the research? </a:t>
          </a:r>
        </a:p>
      </dsp:txBody>
      <dsp:txXfrm>
        <a:off x="38090" y="1413369"/>
        <a:ext cx="3434857" cy="1204497"/>
      </dsp:txXfrm>
    </dsp:sp>
    <dsp:sp modelId="{EAB3DD50-7FE9-4475-AB91-15B098AF1BD8}">
      <dsp:nvSpPr>
        <dsp:cNvPr id="0" name=""/>
        <dsp:cNvSpPr/>
      </dsp:nvSpPr>
      <dsp:spPr>
        <a:xfrm>
          <a:off x="616" y="2750859"/>
          <a:ext cx="1718807" cy="1279445"/>
        </a:xfrm>
        <a:prstGeom prst="roundRect">
          <a:avLst>
            <a:gd name="adj" fmla="val 10000"/>
          </a:avLst>
        </a:prstGeom>
        <a:solidFill>
          <a:schemeClr val="accent5">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Approach</a:t>
          </a:r>
          <a:r>
            <a:rPr lang="en-US" sz="1400" kern="1200" dirty="0"/>
            <a:t>:</a:t>
          </a:r>
        </a:p>
        <a:p>
          <a:pPr marL="0" lvl="0" indent="0" algn="ctr" defTabSz="622300">
            <a:lnSpc>
              <a:spcPct val="90000"/>
            </a:lnSpc>
            <a:spcBef>
              <a:spcPct val="0"/>
            </a:spcBef>
            <a:spcAft>
              <a:spcPct val="35000"/>
            </a:spcAft>
            <a:buNone/>
          </a:pPr>
          <a:r>
            <a:rPr lang="en-US" sz="1400" kern="1200" dirty="0"/>
            <a:t>How is it validated or proven?</a:t>
          </a:r>
        </a:p>
      </dsp:txBody>
      <dsp:txXfrm>
        <a:off x="38090" y="2788333"/>
        <a:ext cx="1643859" cy="1204497"/>
      </dsp:txXfrm>
    </dsp:sp>
    <dsp:sp modelId="{DE2B3CBD-78C7-45B3-952C-BCC00AA9690F}">
      <dsp:nvSpPr>
        <dsp:cNvPr id="0" name=""/>
        <dsp:cNvSpPr/>
      </dsp:nvSpPr>
      <dsp:spPr>
        <a:xfrm>
          <a:off x="1791614" y="2750859"/>
          <a:ext cx="1718807" cy="1279445"/>
        </a:xfrm>
        <a:prstGeom prst="roundRect">
          <a:avLst>
            <a:gd name="adj" fmla="val 10000"/>
          </a:avLst>
        </a:prstGeom>
        <a:solidFill>
          <a:schemeClr val="accent5">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Approach</a:t>
          </a:r>
          <a:r>
            <a:rPr lang="en-US" sz="1400" kern="1200" dirty="0"/>
            <a:t>:</a:t>
          </a:r>
        </a:p>
        <a:p>
          <a:pPr marL="0" lvl="0" indent="0" algn="ctr" defTabSz="622300">
            <a:lnSpc>
              <a:spcPct val="90000"/>
            </a:lnSpc>
            <a:spcBef>
              <a:spcPct val="0"/>
            </a:spcBef>
            <a:spcAft>
              <a:spcPct val="35000"/>
            </a:spcAft>
            <a:buNone/>
          </a:pPr>
          <a:r>
            <a:rPr lang="en-US" sz="1400" kern="1200" dirty="0"/>
            <a:t>Which SOTA methods have been applied?</a:t>
          </a:r>
        </a:p>
      </dsp:txBody>
      <dsp:txXfrm>
        <a:off x="1829088" y="2788333"/>
        <a:ext cx="1643859" cy="1204497"/>
      </dsp:txXfrm>
    </dsp:sp>
    <dsp:sp modelId="{CB21D80B-A374-4F20-9CB5-AC220C608030}">
      <dsp:nvSpPr>
        <dsp:cNvPr id="0" name=""/>
        <dsp:cNvSpPr/>
      </dsp:nvSpPr>
      <dsp:spPr>
        <a:xfrm>
          <a:off x="3654801" y="1375895"/>
          <a:ext cx="1718807" cy="1279445"/>
        </a:xfrm>
        <a:prstGeom prst="roundRect">
          <a:avLst>
            <a:gd name="adj" fmla="val 10000"/>
          </a:avLst>
        </a:prstGeom>
        <a:solidFill>
          <a:srgbClr val="00B0F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Contribution:</a:t>
          </a:r>
        </a:p>
        <a:p>
          <a:pPr marL="0" lvl="0" indent="0" algn="ctr" defTabSz="755650">
            <a:lnSpc>
              <a:spcPct val="90000"/>
            </a:lnSpc>
            <a:spcBef>
              <a:spcPct val="0"/>
            </a:spcBef>
            <a:spcAft>
              <a:spcPct val="35000"/>
            </a:spcAft>
            <a:buNone/>
          </a:pPr>
          <a:r>
            <a:rPr lang="en-US" sz="1700" kern="1200" dirty="0"/>
            <a:t>Which learnings you had?</a:t>
          </a:r>
        </a:p>
      </dsp:txBody>
      <dsp:txXfrm>
        <a:off x="3692275" y="1413369"/>
        <a:ext cx="1643859" cy="1204497"/>
      </dsp:txXfrm>
    </dsp:sp>
    <dsp:sp modelId="{8D2119CF-3436-4CE6-A50D-1F4330A73CB8}">
      <dsp:nvSpPr>
        <dsp:cNvPr id="0" name=""/>
        <dsp:cNvSpPr/>
      </dsp:nvSpPr>
      <dsp:spPr>
        <a:xfrm>
          <a:off x="3654801" y="2750859"/>
          <a:ext cx="1718807" cy="1279445"/>
        </a:xfrm>
        <a:prstGeom prst="roundRect">
          <a:avLst>
            <a:gd name="adj" fmla="val 10000"/>
          </a:avLst>
        </a:prstGeom>
        <a:solidFill>
          <a:schemeClr val="accent5">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Approach</a:t>
          </a:r>
          <a:r>
            <a:rPr lang="en-US" sz="1400" kern="1200" dirty="0"/>
            <a:t>: </a:t>
          </a:r>
        </a:p>
        <a:p>
          <a:pPr marL="0" lvl="0" indent="0" algn="ctr" defTabSz="622300">
            <a:lnSpc>
              <a:spcPct val="90000"/>
            </a:lnSpc>
            <a:spcBef>
              <a:spcPct val="0"/>
            </a:spcBef>
            <a:spcAft>
              <a:spcPct val="35000"/>
            </a:spcAft>
            <a:buNone/>
          </a:pPr>
          <a:r>
            <a:rPr lang="en-US" sz="1400" kern="1200" dirty="0"/>
            <a:t>How is the solution framework implemented?</a:t>
          </a:r>
        </a:p>
      </dsp:txBody>
      <dsp:txXfrm>
        <a:off x="3692275" y="2788333"/>
        <a:ext cx="1643859" cy="120449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0CF5A5-6D98-438D-A75A-EBDF76E725DD}"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1E416B-18FD-487F-AFED-41DBE82ABA13}" type="slidenum">
              <a:rPr lang="en-US" smtClean="0"/>
              <a:t>‹#›</a:t>
            </a:fld>
            <a:endParaRPr lang="en-US"/>
          </a:p>
        </p:txBody>
      </p:sp>
    </p:spTree>
    <p:extLst>
      <p:ext uri="{BB962C8B-B14F-4D97-AF65-F5344CB8AC3E}">
        <p14:creationId xmlns:p14="http://schemas.microsoft.com/office/powerpoint/2010/main" val="1341706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63D6B-175D-B17C-034C-A6DADBE39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554B9-A9AE-2D6A-AE36-FF3E2382AC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D8FDFB-A102-307C-5C66-581E430D64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50D039-F5E9-F67D-F9F2-244B87C796E1}"/>
              </a:ext>
            </a:extLst>
          </p:cNvPr>
          <p:cNvSpPr>
            <a:spLocks noGrp="1"/>
          </p:cNvSpPr>
          <p:nvPr>
            <p:ph type="sldNum" sz="quarter" idx="5"/>
          </p:nvPr>
        </p:nvSpPr>
        <p:spPr/>
        <p:txBody>
          <a:bodyPr/>
          <a:lstStyle/>
          <a:p>
            <a:fld id="{8954E32A-327F-AF4B-8E1F-209FBF93D26D}" type="slidenum">
              <a:rPr lang="nl-NL" smtClean="0"/>
              <a:t>1</a:t>
            </a:fld>
            <a:endParaRPr lang="nl-NL"/>
          </a:p>
        </p:txBody>
      </p:sp>
    </p:spTree>
    <p:extLst>
      <p:ext uri="{BB962C8B-B14F-4D97-AF65-F5344CB8AC3E}">
        <p14:creationId xmlns:p14="http://schemas.microsoft.com/office/powerpoint/2010/main" val="3233999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39EFE-4800-A78C-D9FA-E88E450BBA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715A9-B71D-211E-6184-486EB6716F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2B744-0BB1-5545-BAAC-CDAEE442C9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6653A9-CD39-D587-DE5D-E2546BEE0C64}"/>
              </a:ext>
            </a:extLst>
          </p:cNvPr>
          <p:cNvSpPr>
            <a:spLocks noGrp="1"/>
          </p:cNvSpPr>
          <p:nvPr>
            <p:ph type="sldNum" sz="quarter" idx="5"/>
          </p:nvPr>
        </p:nvSpPr>
        <p:spPr/>
        <p:txBody>
          <a:bodyPr/>
          <a:lstStyle/>
          <a:p>
            <a:fld id="{8954E32A-327F-AF4B-8E1F-209FBF93D26D}" type="slidenum">
              <a:rPr lang="nl-NL" smtClean="0"/>
              <a:t>2</a:t>
            </a:fld>
            <a:endParaRPr lang="nl-NL"/>
          </a:p>
        </p:txBody>
      </p:sp>
    </p:spTree>
    <p:extLst>
      <p:ext uri="{BB962C8B-B14F-4D97-AF65-F5344CB8AC3E}">
        <p14:creationId xmlns:p14="http://schemas.microsoft.com/office/powerpoint/2010/main" val="2360557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57803-D245-38E4-CBDC-54A5674AA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3F8A4-8C04-B89E-54BB-6CF3EC182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230AE-978A-928F-A4A2-BA31303CC4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14E5B1-DADB-2BE6-DDE0-A1FDD8E7F882}"/>
              </a:ext>
            </a:extLst>
          </p:cNvPr>
          <p:cNvSpPr>
            <a:spLocks noGrp="1"/>
          </p:cNvSpPr>
          <p:nvPr>
            <p:ph type="sldNum" sz="quarter" idx="5"/>
          </p:nvPr>
        </p:nvSpPr>
        <p:spPr/>
        <p:txBody>
          <a:bodyPr/>
          <a:lstStyle/>
          <a:p>
            <a:fld id="{8954E32A-327F-AF4B-8E1F-209FBF93D26D}" type="slidenum">
              <a:rPr lang="nl-NL" smtClean="0"/>
              <a:t>3</a:t>
            </a:fld>
            <a:endParaRPr lang="nl-NL"/>
          </a:p>
        </p:txBody>
      </p:sp>
    </p:spTree>
    <p:extLst>
      <p:ext uri="{BB962C8B-B14F-4D97-AF65-F5344CB8AC3E}">
        <p14:creationId xmlns:p14="http://schemas.microsoft.com/office/powerpoint/2010/main" val="2359678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54E32A-327F-AF4B-8E1F-209FBF93D26D}" type="slidenum">
              <a:rPr lang="nl-NL" smtClean="0"/>
              <a:t>4</a:t>
            </a:fld>
            <a:endParaRPr lang="nl-NL"/>
          </a:p>
        </p:txBody>
      </p:sp>
    </p:spTree>
    <p:extLst>
      <p:ext uri="{BB962C8B-B14F-4D97-AF65-F5344CB8AC3E}">
        <p14:creationId xmlns:p14="http://schemas.microsoft.com/office/powerpoint/2010/main" val="2928537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54E32A-327F-AF4B-8E1F-209FBF93D26D}" type="slidenum">
              <a:rPr lang="nl-NL" smtClean="0"/>
              <a:t>5</a:t>
            </a:fld>
            <a:endParaRPr lang="nl-NL"/>
          </a:p>
        </p:txBody>
      </p:sp>
    </p:spTree>
    <p:extLst>
      <p:ext uri="{BB962C8B-B14F-4D97-AF65-F5344CB8AC3E}">
        <p14:creationId xmlns:p14="http://schemas.microsoft.com/office/powerpoint/2010/main" val="1550113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6856-25E7-453F-BF70-DE4A552669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DDA74E-31C6-A278-8EA3-7105733CE3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791367-F99C-9DEF-C9D9-9E7B8F2F9AF4}"/>
              </a:ext>
            </a:extLst>
          </p:cNvPr>
          <p:cNvSpPr>
            <a:spLocks noGrp="1"/>
          </p:cNvSpPr>
          <p:nvPr>
            <p:ph type="dt" sz="half" idx="10"/>
          </p:nvPr>
        </p:nvSpPr>
        <p:spPr/>
        <p:txBody>
          <a:bodyPr/>
          <a:lstStyle/>
          <a:p>
            <a:fld id="{7441C515-761F-4D2E-9F0A-F2EB7727C8FF}" type="datetimeFigureOut">
              <a:rPr lang="en-US" smtClean="0"/>
              <a:t>12/3/2025</a:t>
            </a:fld>
            <a:endParaRPr lang="en-US"/>
          </a:p>
        </p:txBody>
      </p:sp>
      <p:sp>
        <p:nvSpPr>
          <p:cNvPr id="5" name="Footer Placeholder 4">
            <a:extLst>
              <a:ext uri="{FF2B5EF4-FFF2-40B4-BE49-F238E27FC236}">
                <a16:creationId xmlns:a16="http://schemas.microsoft.com/office/drawing/2014/main" id="{D30AE8F8-8C24-584F-1296-212D49847D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79DEE6-A5F3-C23C-B6E9-01B17FD288A6}"/>
              </a:ext>
            </a:extLst>
          </p:cNvPr>
          <p:cNvSpPr>
            <a:spLocks noGrp="1"/>
          </p:cNvSpPr>
          <p:nvPr>
            <p:ph type="sldNum" sz="quarter" idx="12"/>
          </p:nvPr>
        </p:nvSpPr>
        <p:spPr/>
        <p:txBody>
          <a:bodyPr/>
          <a:lstStyle/>
          <a:p>
            <a:fld id="{2EA11B7B-AD20-4BA9-B771-436A0BB774DC}" type="slidenum">
              <a:rPr lang="en-US" smtClean="0"/>
              <a:t>‹#›</a:t>
            </a:fld>
            <a:endParaRPr lang="en-US"/>
          </a:p>
        </p:txBody>
      </p:sp>
    </p:spTree>
    <p:extLst>
      <p:ext uri="{BB962C8B-B14F-4D97-AF65-F5344CB8AC3E}">
        <p14:creationId xmlns:p14="http://schemas.microsoft.com/office/powerpoint/2010/main" val="2084066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3D25E-3643-6A3F-D072-7CE9ED733C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F6F58F-9FDB-DB08-8352-8095F65F43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C58B81-1635-F740-3177-799C3C42EF0D}"/>
              </a:ext>
            </a:extLst>
          </p:cNvPr>
          <p:cNvSpPr>
            <a:spLocks noGrp="1"/>
          </p:cNvSpPr>
          <p:nvPr>
            <p:ph type="dt" sz="half" idx="10"/>
          </p:nvPr>
        </p:nvSpPr>
        <p:spPr/>
        <p:txBody>
          <a:bodyPr/>
          <a:lstStyle/>
          <a:p>
            <a:fld id="{7441C515-761F-4D2E-9F0A-F2EB7727C8FF}" type="datetimeFigureOut">
              <a:rPr lang="en-US" smtClean="0"/>
              <a:t>12/3/2025</a:t>
            </a:fld>
            <a:endParaRPr lang="en-US"/>
          </a:p>
        </p:txBody>
      </p:sp>
      <p:sp>
        <p:nvSpPr>
          <p:cNvPr id="5" name="Footer Placeholder 4">
            <a:extLst>
              <a:ext uri="{FF2B5EF4-FFF2-40B4-BE49-F238E27FC236}">
                <a16:creationId xmlns:a16="http://schemas.microsoft.com/office/drawing/2014/main" id="{EEB53021-DF3E-8EF2-06B1-1257BA4803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C2277A-6F30-BCAC-6232-3BFC72389B3B}"/>
              </a:ext>
            </a:extLst>
          </p:cNvPr>
          <p:cNvSpPr>
            <a:spLocks noGrp="1"/>
          </p:cNvSpPr>
          <p:nvPr>
            <p:ph type="sldNum" sz="quarter" idx="12"/>
          </p:nvPr>
        </p:nvSpPr>
        <p:spPr/>
        <p:txBody>
          <a:bodyPr/>
          <a:lstStyle/>
          <a:p>
            <a:fld id="{2EA11B7B-AD20-4BA9-B771-436A0BB774DC}" type="slidenum">
              <a:rPr lang="en-US" smtClean="0"/>
              <a:t>‹#›</a:t>
            </a:fld>
            <a:endParaRPr lang="en-US"/>
          </a:p>
        </p:txBody>
      </p:sp>
    </p:spTree>
    <p:extLst>
      <p:ext uri="{BB962C8B-B14F-4D97-AF65-F5344CB8AC3E}">
        <p14:creationId xmlns:p14="http://schemas.microsoft.com/office/powerpoint/2010/main" val="3906980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5B9B4-B75D-8504-5A90-6D26CC8C08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0746CF-F32C-DAFA-121F-8E5630D227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167E60-F82D-A35F-9FD5-354FC27DB184}"/>
              </a:ext>
            </a:extLst>
          </p:cNvPr>
          <p:cNvSpPr>
            <a:spLocks noGrp="1"/>
          </p:cNvSpPr>
          <p:nvPr>
            <p:ph type="dt" sz="half" idx="10"/>
          </p:nvPr>
        </p:nvSpPr>
        <p:spPr/>
        <p:txBody>
          <a:bodyPr/>
          <a:lstStyle/>
          <a:p>
            <a:fld id="{7441C515-761F-4D2E-9F0A-F2EB7727C8FF}" type="datetimeFigureOut">
              <a:rPr lang="en-US" smtClean="0"/>
              <a:t>12/3/2025</a:t>
            </a:fld>
            <a:endParaRPr lang="en-US"/>
          </a:p>
        </p:txBody>
      </p:sp>
      <p:sp>
        <p:nvSpPr>
          <p:cNvPr id="5" name="Footer Placeholder 4">
            <a:extLst>
              <a:ext uri="{FF2B5EF4-FFF2-40B4-BE49-F238E27FC236}">
                <a16:creationId xmlns:a16="http://schemas.microsoft.com/office/drawing/2014/main" id="{8CC2229F-A8B2-1491-913C-7FF91A34D9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63E793-2EFE-B23F-0CA6-12BD60064814}"/>
              </a:ext>
            </a:extLst>
          </p:cNvPr>
          <p:cNvSpPr>
            <a:spLocks noGrp="1"/>
          </p:cNvSpPr>
          <p:nvPr>
            <p:ph type="sldNum" sz="quarter" idx="12"/>
          </p:nvPr>
        </p:nvSpPr>
        <p:spPr/>
        <p:txBody>
          <a:bodyPr/>
          <a:lstStyle/>
          <a:p>
            <a:fld id="{2EA11B7B-AD20-4BA9-B771-436A0BB774DC}" type="slidenum">
              <a:rPr lang="en-US" smtClean="0"/>
              <a:t>‹#›</a:t>
            </a:fld>
            <a:endParaRPr lang="en-US"/>
          </a:p>
        </p:txBody>
      </p:sp>
    </p:spTree>
    <p:extLst>
      <p:ext uri="{BB962C8B-B14F-4D97-AF65-F5344CB8AC3E}">
        <p14:creationId xmlns:p14="http://schemas.microsoft.com/office/powerpoint/2010/main" val="2109953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055C6-7A66-610C-10F3-00C4EED063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6F603B-7FA0-F9E2-72B5-4B82CD2F30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90D9AA-9F5D-26DF-6C70-3CF10B1088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337E54-0D6C-28B5-D489-D1CE90372684}"/>
              </a:ext>
            </a:extLst>
          </p:cNvPr>
          <p:cNvSpPr>
            <a:spLocks noGrp="1"/>
          </p:cNvSpPr>
          <p:nvPr>
            <p:ph type="dt" sz="half" idx="10"/>
          </p:nvPr>
        </p:nvSpPr>
        <p:spPr/>
        <p:txBody>
          <a:bodyPr/>
          <a:lstStyle/>
          <a:p>
            <a:fld id="{7441C515-761F-4D2E-9F0A-F2EB7727C8FF}" type="datetimeFigureOut">
              <a:rPr lang="en-US" smtClean="0"/>
              <a:t>12/3/2025</a:t>
            </a:fld>
            <a:endParaRPr lang="en-US"/>
          </a:p>
        </p:txBody>
      </p:sp>
      <p:sp>
        <p:nvSpPr>
          <p:cNvPr id="6" name="Footer Placeholder 5">
            <a:extLst>
              <a:ext uri="{FF2B5EF4-FFF2-40B4-BE49-F238E27FC236}">
                <a16:creationId xmlns:a16="http://schemas.microsoft.com/office/drawing/2014/main" id="{D1866984-F1E3-6495-ACAA-971E45FF02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B3AAB3-3E95-EEB0-B529-13F53FFAD600}"/>
              </a:ext>
            </a:extLst>
          </p:cNvPr>
          <p:cNvSpPr>
            <a:spLocks noGrp="1"/>
          </p:cNvSpPr>
          <p:nvPr>
            <p:ph type="sldNum" sz="quarter" idx="12"/>
          </p:nvPr>
        </p:nvSpPr>
        <p:spPr/>
        <p:txBody>
          <a:bodyPr/>
          <a:lstStyle/>
          <a:p>
            <a:fld id="{2EA11B7B-AD20-4BA9-B771-436A0BB774DC}" type="slidenum">
              <a:rPr lang="en-US" smtClean="0"/>
              <a:t>‹#›</a:t>
            </a:fld>
            <a:endParaRPr lang="en-US"/>
          </a:p>
        </p:txBody>
      </p:sp>
    </p:spTree>
    <p:extLst>
      <p:ext uri="{BB962C8B-B14F-4D97-AF65-F5344CB8AC3E}">
        <p14:creationId xmlns:p14="http://schemas.microsoft.com/office/powerpoint/2010/main" val="966605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11796-1038-B6C4-92D3-50744D2D91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76D5F4-DEF7-E6C6-1286-3D80D55E04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FA17F6-EAC3-F493-EE0F-E026D00AF5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6D701-A558-7BFB-BC04-9246084FE3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7DB6BE-306F-9ACF-238A-80AE213494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BB9EF9-66D6-433D-1C39-621FEDFA1C4B}"/>
              </a:ext>
            </a:extLst>
          </p:cNvPr>
          <p:cNvSpPr>
            <a:spLocks noGrp="1"/>
          </p:cNvSpPr>
          <p:nvPr>
            <p:ph type="dt" sz="half" idx="10"/>
          </p:nvPr>
        </p:nvSpPr>
        <p:spPr/>
        <p:txBody>
          <a:bodyPr/>
          <a:lstStyle/>
          <a:p>
            <a:fld id="{7441C515-761F-4D2E-9F0A-F2EB7727C8FF}" type="datetimeFigureOut">
              <a:rPr lang="en-US" smtClean="0"/>
              <a:t>12/3/2025</a:t>
            </a:fld>
            <a:endParaRPr lang="en-US"/>
          </a:p>
        </p:txBody>
      </p:sp>
      <p:sp>
        <p:nvSpPr>
          <p:cNvPr id="8" name="Footer Placeholder 7">
            <a:extLst>
              <a:ext uri="{FF2B5EF4-FFF2-40B4-BE49-F238E27FC236}">
                <a16:creationId xmlns:a16="http://schemas.microsoft.com/office/drawing/2014/main" id="{F2025B3B-3E51-4DE0-71BC-940A3729F2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3C01D5-9E9E-DBA0-2796-998121AD80AB}"/>
              </a:ext>
            </a:extLst>
          </p:cNvPr>
          <p:cNvSpPr>
            <a:spLocks noGrp="1"/>
          </p:cNvSpPr>
          <p:nvPr>
            <p:ph type="sldNum" sz="quarter" idx="12"/>
          </p:nvPr>
        </p:nvSpPr>
        <p:spPr/>
        <p:txBody>
          <a:bodyPr/>
          <a:lstStyle/>
          <a:p>
            <a:fld id="{2EA11B7B-AD20-4BA9-B771-436A0BB774DC}" type="slidenum">
              <a:rPr lang="en-US" smtClean="0"/>
              <a:t>‹#›</a:t>
            </a:fld>
            <a:endParaRPr lang="en-US"/>
          </a:p>
        </p:txBody>
      </p:sp>
    </p:spTree>
    <p:extLst>
      <p:ext uri="{BB962C8B-B14F-4D97-AF65-F5344CB8AC3E}">
        <p14:creationId xmlns:p14="http://schemas.microsoft.com/office/powerpoint/2010/main" val="2094248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D2E4E-041A-7A99-8DB2-E0CB39B95A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B8C507E-8367-748B-A4FA-C3606EA2E5A7}"/>
              </a:ext>
            </a:extLst>
          </p:cNvPr>
          <p:cNvSpPr>
            <a:spLocks noGrp="1"/>
          </p:cNvSpPr>
          <p:nvPr>
            <p:ph type="dt" sz="half" idx="10"/>
          </p:nvPr>
        </p:nvSpPr>
        <p:spPr/>
        <p:txBody>
          <a:bodyPr/>
          <a:lstStyle/>
          <a:p>
            <a:fld id="{7441C515-761F-4D2E-9F0A-F2EB7727C8FF}" type="datetimeFigureOut">
              <a:rPr lang="en-US" smtClean="0"/>
              <a:t>12/3/2025</a:t>
            </a:fld>
            <a:endParaRPr lang="en-US"/>
          </a:p>
        </p:txBody>
      </p:sp>
      <p:sp>
        <p:nvSpPr>
          <p:cNvPr id="4" name="Footer Placeholder 3">
            <a:extLst>
              <a:ext uri="{FF2B5EF4-FFF2-40B4-BE49-F238E27FC236}">
                <a16:creationId xmlns:a16="http://schemas.microsoft.com/office/drawing/2014/main" id="{2EEEF752-F496-873D-2F98-B21852BE13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878FB9-B432-4A38-1F16-81C174C6AA59}"/>
              </a:ext>
            </a:extLst>
          </p:cNvPr>
          <p:cNvSpPr>
            <a:spLocks noGrp="1"/>
          </p:cNvSpPr>
          <p:nvPr>
            <p:ph type="sldNum" sz="quarter" idx="12"/>
          </p:nvPr>
        </p:nvSpPr>
        <p:spPr/>
        <p:txBody>
          <a:bodyPr/>
          <a:lstStyle/>
          <a:p>
            <a:fld id="{2EA11B7B-AD20-4BA9-B771-436A0BB774DC}" type="slidenum">
              <a:rPr lang="en-US" smtClean="0"/>
              <a:t>‹#›</a:t>
            </a:fld>
            <a:endParaRPr lang="en-US"/>
          </a:p>
        </p:txBody>
      </p:sp>
    </p:spTree>
    <p:extLst>
      <p:ext uri="{BB962C8B-B14F-4D97-AF65-F5344CB8AC3E}">
        <p14:creationId xmlns:p14="http://schemas.microsoft.com/office/powerpoint/2010/main" val="360565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17D9BE-1ED9-8022-AC1E-EF76C3D38CAF}"/>
              </a:ext>
            </a:extLst>
          </p:cNvPr>
          <p:cNvSpPr>
            <a:spLocks noGrp="1"/>
          </p:cNvSpPr>
          <p:nvPr>
            <p:ph type="dt" sz="half" idx="10"/>
          </p:nvPr>
        </p:nvSpPr>
        <p:spPr/>
        <p:txBody>
          <a:bodyPr/>
          <a:lstStyle/>
          <a:p>
            <a:fld id="{7441C515-761F-4D2E-9F0A-F2EB7727C8FF}" type="datetimeFigureOut">
              <a:rPr lang="en-US" smtClean="0"/>
              <a:t>12/3/2025</a:t>
            </a:fld>
            <a:endParaRPr lang="en-US"/>
          </a:p>
        </p:txBody>
      </p:sp>
      <p:sp>
        <p:nvSpPr>
          <p:cNvPr id="3" name="Footer Placeholder 2">
            <a:extLst>
              <a:ext uri="{FF2B5EF4-FFF2-40B4-BE49-F238E27FC236}">
                <a16:creationId xmlns:a16="http://schemas.microsoft.com/office/drawing/2014/main" id="{5DAECC4F-A4A8-0D9B-A073-0860863FEE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958F7C-1B01-4F3A-38CD-FC4C2C9FA09F}"/>
              </a:ext>
            </a:extLst>
          </p:cNvPr>
          <p:cNvSpPr>
            <a:spLocks noGrp="1"/>
          </p:cNvSpPr>
          <p:nvPr>
            <p:ph type="sldNum" sz="quarter" idx="12"/>
          </p:nvPr>
        </p:nvSpPr>
        <p:spPr/>
        <p:txBody>
          <a:bodyPr/>
          <a:lstStyle/>
          <a:p>
            <a:fld id="{2EA11B7B-AD20-4BA9-B771-436A0BB774DC}" type="slidenum">
              <a:rPr lang="en-US" smtClean="0"/>
              <a:t>‹#›</a:t>
            </a:fld>
            <a:endParaRPr lang="en-US"/>
          </a:p>
        </p:txBody>
      </p:sp>
    </p:spTree>
    <p:extLst>
      <p:ext uri="{BB962C8B-B14F-4D97-AF65-F5344CB8AC3E}">
        <p14:creationId xmlns:p14="http://schemas.microsoft.com/office/powerpoint/2010/main" val="1275331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C7A57-B297-1836-7536-0DBAD7B827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FB0560-5B39-57D7-A0AD-BAB4ACF815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4B0EE7-88C8-B25E-2901-073F8AAA1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6F5761-6B15-6578-1B5A-2A435F1AC38A}"/>
              </a:ext>
            </a:extLst>
          </p:cNvPr>
          <p:cNvSpPr>
            <a:spLocks noGrp="1"/>
          </p:cNvSpPr>
          <p:nvPr>
            <p:ph type="dt" sz="half" idx="10"/>
          </p:nvPr>
        </p:nvSpPr>
        <p:spPr/>
        <p:txBody>
          <a:bodyPr/>
          <a:lstStyle/>
          <a:p>
            <a:fld id="{7441C515-761F-4D2E-9F0A-F2EB7727C8FF}" type="datetimeFigureOut">
              <a:rPr lang="en-US" smtClean="0"/>
              <a:t>12/3/2025</a:t>
            </a:fld>
            <a:endParaRPr lang="en-US"/>
          </a:p>
        </p:txBody>
      </p:sp>
      <p:sp>
        <p:nvSpPr>
          <p:cNvPr id="6" name="Footer Placeholder 5">
            <a:extLst>
              <a:ext uri="{FF2B5EF4-FFF2-40B4-BE49-F238E27FC236}">
                <a16:creationId xmlns:a16="http://schemas.microsoft.com/office/drawing/2014/main" id="{9DEFF998-D1E3-5C37-D4BA-7B9271CD98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D9DC2F-1178-5A14-0C53-913D6CBEDAAE}"/>
              </a:ext>
            </a:extLst>
          </p:cNvPr>
          <p:cNvSpPr>
            <a:spLocks noGrp="1"/>
          </p:cNvSpPr>
          <p:nvPr>
            <p:ph type="sldNum" sz="quarter" idx="12"/>
          </p:nvPr>
        </p:nvSpPr>
        <p:spPr/>
        <p:txBody>
          <a:bodyPr/>
          <a:lstStyle/>
          <a:p>
            <a:fld id="{2EA11B7B-AD20-4BA9-B771-436A0BB774DC}" type="slidenum">
              <a:rPr lang="en-US" smtClean="0"/>
              <a:t>‹#›</a:t>
            </a:fld>
            <a:endParaRPr lang="en-US"/>
          </a:p>
        </p:txBody>
      </p:sp>
    </p:spTree>
    <p:extLst>
      <p:ext uri="{BB962C8B-B14F-4D97-AF65-F5344CB8AC3E}">
        <p14:creationId xmlns:p14="http://schemas.microsoft.com/office/powerpoint/2010/main" val="534138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75A8-B793-CA5F-2091-45982AE11E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F16A44-7A49-4DEC-1B8E-6604294AEA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BCC1AB-3331-B77B-9763-036ACE3F10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254A8C-7802-2EAE-488E-2849AD610950}"/>
              </a:ext>
            </a:extLst>
          </p:cNvPr>
          <p:cNvSpPr>
            <a:spLocks noGrp="1"/>
          </p:cNvSpPr>
          <p:nvPr>
            <p:ph type="dt" sz="half" idx="10"/>
          </p:nvPr>
        </p:nvSpPr>
        <p:spPr/>
        <p:txBody>
          <a:bodyPr/>
          <a:lstStyle/>
          <a:p>
            <a:fld id="{7441C515-761F-4D2E-9F0A-F2EB7727C8FF}" type="datetimeFigureOut">
              <a:rPr lang="en-US" smtClean="0"/>
              <a:t>12/3/2025</a:t>
            </a:fld>
            <a:endParaRPr lang="en-US"/>
          </a:p>
        </p:txBody>
      </p:sp>
      <p:sp>
        <p:nvSpPr>
          <p:cNvPr id="6" name="Footer Placeholder 5">
            <a:extLst>
              <a:ext uri="{FF2B5EF4-FFF2-40B4-BE49-F238E27FC236}">
                <a16:creationId xmlns:a16="http://schemas.microsoft.com/office/drawing/2014/main" id="{D04A9624-3035-0780-6839-8ABFEE4509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12E0AC-38D4-A291-C7E8-758B611FF2B0}"/>
              </a:ext>
            </a:extLst>
          </p:cNvPr>
          <p:cNvSpPr>
            <a:spLocks noGrp="1"/>
          </p:cNvSpPr>
          <p:nvPr>
            <p:ph type="sldNum" sz="quarter" idx="12"/>
          </p:nvPr>
        </p:nvSpPr>
        <p:spPr/>
        <p:txBody>
          <a:bodyPr/>
          <a:lstStyle/>
          <a:p>
            <a:fld id="{2EA11B7B-AD20-4BA9-B771-436A0BB774DC}" type="slidenum">
              <a:rPr lang="en-US" smtClean="0"/>
              <a:t>‹#›</a:t>
            </a:fld>
            <a:endParaRPr lang="en-US"/>
          </a:p>
        </p:txBody>
      </p:sp>
    </p:spTree>
    <p:extLst>
      <p:ext uri="{BB962C8B-B14F-4D97-AF65-F5344CB8AC3E}">
        <p14:creationId xmlns:p14="http://schemas.microsoft.com/office/powerpoint/2010/main" val="2224094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998C2-B049-CDF5-3CD2-A42D4CDFC3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F58816-14DA-4C3D-E732-BA80C72288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13499C-60BB-B0B8-785E-46FFFAD02F69}"/>
              </a:ext>
            </a:extLst>
          </p:cNvPr>
          <p:cNvSpPr>
            <a:spLocks noGrp="1"/>
          </p:cNvSpPr>
          <p:nvPr>
            <p:ph type="dt" sz="half" idx="10"/>
          </p:nvPr>
        </p:nvSpPr>
        <p:spPr/>
        <p:txBody>
          <a:bodyPr/>
          <a:lstStyle/>
          <a:p>
            <a:fld id="{7441C515-761F-4D2E-9F0A-F2EB7727C8FF}" type="datetimeFigureOut">
              <a:rPr lang="en-US" smtClean="0"/>
              <a:t>12/3/2025</a:t>
            </a:fld>
            <a:endParaRPr lang="en-US"/>
          </a:p>
        </p:txBody>
      </p:sp>
      <p:sp>
        <p:nvSpPr>
          <p:cNvPr id="5" name="Footer Placeholder 4">
            <a:extLst>
              <a:ext uri="{FF2B5EF4-FFF2-40B4-BE49-F238E27FC236}">
                <a16:creationId xmlns:a16="http://schemas.microsoft.com/office/drawing/2014/main" id="{447D6F5D-7B9E-C453-E2CD-2F936A3749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AA5011-A190-B214-9825-6DE6613ABD55}"/>
              </a:ext>
            </a:extLst>
          </p:cNvPr>
          <p:cNvSpPr>
            <a:spLocks noGrp="1"/>
          </p:cNvSpPr>
          <p:nvPr>
            <p:ph type="sldNum" sz="quarter" idx="12"/>
          </p:nvPr>
        </p:nvSpPr>
        <p:spPr/>
        <p:txBody>
          <a:bodyPr/>
          <a:lstStyle/>
          <a:p>
            <a:fld id="{2EA11B7B-AD20-4BA9-B771-436A0BB774DC}" type="slidenum">
              <a:rPr lang="en-US" smtClean="0"/>
              <a:t>‹#›</a:t>
            </a:fld>
            <a:endParaRPr lang="en-US"/>
          </a:p>
        </p:txBody>
      </p:sp>
    </p:spTree>
    <p:extLst>
      <p:ext uri="{BB962C8B-B14F-4D97-AF65-F5344CB8AC3E}">
        <p14:creationId xmlns:p14="http://schemas.microsoft.com/office/powerpoint/2010/main" val="1597368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9A485-F88B-5FE7-3D6D-15995EA1C3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1528257-3955-8BBD-DF22-613EF33C6D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F5CC0F-FDBD-7FB7-4E62-5848408517CE}"/>
              </a:ext>
            </a:extLst>
          </p:cNvPr>
          <p:cNvSpPr>
            <a:spLocks noGrp="1"/>
          </p:cNvSpPr>
          <p:nvPr>
            <p:ph type="dt" sz="half" idx="10"/>
          </p:nvPr>
        </p:nvSpPr>
        <p:spPr/>
        <p:txBody>
          <a:bodyPr/>
          <a:lstStyle/>
          <a:p>
            <a:fld id="{7441C515-761F-4D2E-9F0A-F2EB7727C8FF}" type="datetimeFigureOut">
              <a:rPr lang="en-US" smtClean="0"/>
              <a:t>12/3/2025</a:t>
            </a:fld>
            <a:endParaRPr lang="en-US"/>
          </a:p>
        </p:txBody>
      </p:sp>
      <p:sp>
        <p:nvSpPr>
          <p:cNvPr id="5" name="Footer Placeholder 4">
            <a:extLst>
              <a:ext uri="{FF2B5EF4-FFF2-40B4-BE49-F238E27FC236}">
                <a16:creationId xmlns:a16="http://schemas.microsoft.com/office/drawing/2014/main" id="{646D06B0-175F-4E8E-17BA-EE5994ABB3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990BBC-D9AF-3DAD-3F8E-FDCFDA226CD6}"/>
              </a:ext>
            </a:extLst>
          </p:cNvPr>
          <p:cNvSpPr>
            <a:spLocks noGrp="1"/>
          </p:cNvSpPr>
          <p:nvPr>
            <p:ph type="sldNum" sz="quarter" idx="12"/>
          </p:nvPr>
        </p:nvSpPr>
        <p:spPr/>
        <p:txBody>
          <a:bodyPr/>
          <a:lstStyle/>
          <a:p>
            <a:fld id="{2EA11B7B-AD20-4BA9-B771-436A0BB774DC}" type="slidenum">
              <a:rPr lang="en-US" smtClean="0"/>
              <a:t>‹#›</a:t>
            </a:fld>
            <a:endParaRPr lang="en-US"/>
          </a:p>
        </p:txBody>
      </p:sp>
    </p:spTree>
    <p:extLst>
      <p:ext uri="{BB962C8B-B14F-4D97-AF65-F5344CB8AC3E}">
        <p14:creationId xmlns:p14="http://schemas.microsoft.com/office/powerpoint/2010/main" val="3322296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422C66-6959-E5CA-C312-0AD232C5DB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78E2D8-AF54-A6CE-BCDE-032A24B813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F4022-756B-9BF7-5129-E2067BD11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41C515-761F-4D2E-9F0A-F2EB7727C8FF}" type="datetimeFigureOut">
              <a:rPr lang="en-US" smtClean="0"/>
              <a:t>12/3/2025</a:t>
            </a:fld>
            <a:endParaRPr lang="en-US"/>
          </a:p>
        </p:txBody>
      </p:sp>
      <p:sp>
        <p:nvSpPr>
          <p:cNvPr id="5" name="Footer Placeholder 4">
            <a:extLst>
              <a:ext uri="{FF2B5EF4-FFF2-40B4-BE49-F238E27FC236}">
                <a16:creationId xmlns:a16="http://schemas.microsoft.com/office/drawing/2014/main" id="{6C73626B-7509-F125-9D13-E66EB86285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4CA86FE-752F-0C2F-95CE-75091A6A63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A11B7B-AD20-4BA9-B771-436A0BB774DC}" type="slidenum">
              <a:rPr lang="en-US" smtClean="0"/>
              <a:t>‹#›</a:t>
            </a:fld>
            <a:endParaRPr lang="en-US"/>
          </a:p>
        </p:txBody>
      </p:sp>
    </p:spTree>
    <p:extLst>
      <p:ext uri="{BB962C8B-B14F-4D97-AF65-F5344CB8AC3E}">
        <p14:creationId xmlns:p14="http://schemas.microsoft.com/office/powerpoint/2010/main" val="8540141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6CD7-6872-1438-C908-37722428CF7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C5EE67B-F51E-34DD-ECFE-884B497D2C43}"/>
              </a:ext>
            </a:extLst>
          </p:cNvPr>
          <p:cNvSpPr>
            <a:spLocks noGrp="1"/>
          </p:cNvSpPr>
          <p:nvPr>
            <p:ph type="ftr" sz="quarter" idx="11"/>
          </p:nvPr>
        </p:nvSpPr>
        <p:spPr/>
        <p:txBody>
          <a:bodyPr/>
          <a:lstStyle/>
          <a:p>
            <a:r>
              <a:rPr lang="en-US"/>
              <a:t>Mechanical Engineering, Division LMSD, Noise &amp; Vibration Research Group</a:t>
            </a:r>
            <a:endParaRPr lang="nl-NL"/>
          </a:p>
        </p:txBody>
      </p:sp>
      <p:sp>
        <p:nvSpPr>
          <p:cNvPr id="4" name="Slide Number Placeholder 3">
            <a:extLst>
              <a:ext uri="{FF2B5EF4-FFF2-40B4-BE49-F238E27FC236}">
                <a16:creationId xmlns:a16="http://schemas.microsoft.com/office/drawing/2014/main" id="{84336841-C141-5A74-26C6-F86FD0DCA6F9}"/>
              </a:ext>
            </a:extLst>
          </p:cNvPr>
          <p:cNvSpPr>
            <a:spLocks noGrp="1"/>
          </p:cNvSpPr>
          <p:nvPr>
            <p:ph type="sldNum" sz="quarter" idx="12"/>
          </p:nvPr>
        </p:nvSpPr>
        <p:spPr/>
        <p:txBody>
          <a:bodyPr/>
          <a:lstStyle/>
          <a:p>
            <a:fld id="{0A297500-7527-634B-90F4-69D0994C32B4}" type="slidenum">
              <a:rPr lang="nl-NL" smtClean="0"/>
              <a:t>1</a:t>
            </a:fld>
            <a:endParaRPr lang="nl-NL"/>
          </a:p>
        </p:txBody>
      </p:sp>
      <p:sp>
        <p:nvSpPr>
          <p:cNvPr id="10" name="Rectangle 9">
            <a:extLst>
              <a:ext uri="{FF2B5EF4-FFF2-40B4-BE49-F238E27FC236}">
                <a16:creationId xmlns:a16="http://schemas.microsoft.com/office/drawing/2014/main" id="{4AC4AD39-2F44-8AF1-0433-130F359E5D3D}"/>
              </a:ext>
            </a:extLst>
          </p:cNvPr>
          <p:cNvSpPr/>
          <p:nvPr/>
        </p:nvSpPr>
        <p:spPr>
          <a:xfrm>
            <a:off x="0" y="-560"/>
            <a:ext cx="12192000" cy="640080"/>
          </a:xfrm>
          <a:prstGeom prst="rect">
            <a:avLst/>
          </a:prstGeom>
          <a:solidFill>
            <a:srgbClr val="1D8DB0"/>
          </a:solidFill>
          <a:ln w="28575">
            <a:noFill/>
          </a:ln>
        </p:spPr>
        <p:txBody>
          <a:bodyPr wrap="square">
            <a:spAutoFit/>
          </a:bodyPr>
          <a:lstStyle/>
          <a:p>
            <a:pPr algn="ctr"/>
            <a:endParaRPr lang="en-US" sz="2000" b="1" dirty="0">
              <a:solidFill>
                <a:srgbClr val="FFFF00"/>
              </a:solidFill>
              <a:latin typeface="Garamond" panose="02020404030301010803" pitchFamily="18" charset="0"/>
            </a:endParaRPr>
          </a:p>
        </p:txBody>
      </p:sp>
      <p:sp>
        <p:nvSpPr>
          <p:cNvPr id="22" name="Content Placeholder 21">
            <a:extLst>
              <a:ext uri="{FF2B5EF4-FFF2-40B4-BE49-F238E27FC236}">
                <a16:creationId xmlns:a16="http://schemas.microsoft.com/office/drawing/2014/main" id="{50C514B5-91E9-A946-D32D-7DF9E9C4D9A7}"/>
              </a:ext>
            </a:extLst>
          </p:cNvPr>
          <p:cNvSpPr>
            <a:spLocks noGrp="1"/>
          </p:cNvSpPr>
          <p:nvPr>
            <p:ph idx="1"/>
          </p:nvPr>
        </p:nvSpPr>
        <p:spPr>
          <a:xfrm>
            <a:off x="214313" y="708571"/>
            <a:ext cx="11763374" cy="5440858"/>
          </a:xfrm>
        </p:spPr>
        <p:txBody>
          <a:bodyPr>
            <a:normAutofit fontScale="47500" lnSpcReduction="20000"/>
          </a:bodyPr>
          <a:lstStyle/>
          <a:p>
            <a:pPr marL="0" indent="0">
              <a:buNone/>
            </a:pPr>
            <a:r>
              <a:rPr lang="en-US" dirty="0">
                <a:solidFill>
                  <a:srgbClr val="00B050"/>
                </a:solidFill>
              </a:rPr>
              <a:t>Research objectives:</a:t>
            </a:r>
          </a:p>
          <a:p>
            <a:pPr marL="0" indent="0">
              <a:buNone/>
            </a:pPr>
            <a:r>
              <a:rPr lang="en-US" dirty="0"/>
              <a:t>This research aims to enable indirect estimation of loads in complex mechanical systems, with a focus on bearings, using surface-mounted sensors and without modeling the rotating components. (The objective aims to bridge the gap caused by usage of expensive force cells to measure the applied loads to the system, as well as the experimental complexity associated with measurement of sensors placed in the harsh environment of rotating components (e.g. on the shaft inside gearboxes), and the numerical complexity of modeling these components.)</a:t>
            </a:r>
          </a:p>
          <a:p>
            <a:pPr marL="0" indent="0">
              <a:buNone/>
            </a:pPr>
            <a:endParaRPr lang="en-US" dirty="0"/>
          </a:p>
          <a:p>
            <a:pPr marL="0" indent="0">
              <a:buNone/>
            </a:pPr>
            <a:r>
              <a:rPr lang="en-US" dirty="0">
                <a:solidFill>
                  <a:srgbClr val="00B0F0"/>
                </a:solidFill>
              </a:rPr>
              <a:t>Research contribution: </a:t>
            </a:r>
          </a:p>
          <a:p>
            <a:pPr marL="514350" indent="-514350">
              <a:buFont typeface="+mj-lt"/>
              <a:buAutoNum type="arabicPeriod"/>
            </a:pPr>
            <a:r>
              <a:rPr lang="en-US" dirty="0"/>
              <a:t>We illustrate the influence and importance of a minimal reduction basis for load estimation, and introduce and analyze a novel reduction method for systems with periodic excitations.</a:t>
            </a:r>
          </a:p>
          <a:p>
            <a:pPr marL="514350" indent="-514350">
              <a:buFont typeface="+mj-lt"/>
              <a:buAutoNum type="arabicPeriod"/>
            </a:pPr>
            <a:r>
              <a:rPr lang="en-US" dirty="0"/>
              <a:t>We introduce a systematic framework for representative model building and updating, enabling identification of boundary conditions and guiding sensor placement with improved signal-to-noise ratio, improving the estimation performance from both modeling and measurement perspective.</a:t>
            </a:r>
          </a:p>
          <a:p>
            <a:pPr marL="514350" indent="-514350">
              <a:buFont typeface="+mj-lt"/>
              <a:buAutoNum type="arabicPeriod"/>
            </a:pPr>
            <a:r>
              <a:rPr lang="en-US" dirty="0"/>
              <a:t>We highlight the impact of sensors and their cables on the quality of acquired experimental data, particularly on damping parameters, and propose simple models to estimate or accurately account for this influence. </a:t>
            </a:r>
          </a:p>
          <a:p>
            <a:pPr marL="514350" indent="-514350">
              <a:buFont typeface="+mj-lt"/>
              <a:buAutoNum type="arabicPeriod"/>
            </a:pPr>
            <a:r>
              <a:rPr lang="en-US" dirty="0"/>
              <a:t>We apply the model generation framework and load estimation methodology to a setup with an industrial level of complexity and experimentally validate the bearing load estimation procedure.</a:t>
            </a:r>
            <a:endParaRPr lang="en-US" dirty="0">
              <a:solidFill>
                <a:srgbClr val="00B0F0"/>
              </a:solidFill>
            </a:endParaRPr>
          </a:p>
          <a:p>
            <a:pPr marL="0" indent="0">
              <a:buNone/>
            </a:pPr>
            <a:r>
              <a:rPr lang="en-US" dirty="0">
                <a:solidFill>
                  <a:schemeClr val="accent5">
                    <a:lumMod val="75000"/>
                  </a:schemeClr>
                </a:solidFill>
              </a:rPr>
              <a:t>Research approaches:</a:t>
            </a:r>
            <a:endParaRPr lang="en-US" sz="2500" dirty="0"/>
          </a:p>
          <a:p>
            <a:pPr marL="457200" indent="-457200">
              <a:buFont typeface="+mj-lt"/>
              <a:buAutoNum type="arabicPeriod"/>
            </a:pPr>
            <a:r>
              <a:rPr lang="en-US" sz="2500" dirty="0"/>
              <a:t>The observability of the reduced system based on the number of states is investigated. The reduction basis is concluded from basic equations on assumed loading conditions. In a numerical investigation, the performance of the novel reduction mode is investigated. The accuracy of the reduced mode is investigated depending on the accuracy of the detected frequency.</a:t>
            </a:r>
          </a:p>
          <a:p>
            <a:pPr marL="457200" indent="-457200">
              <a:buFont typeface="+mj-lt"/>
              <a:buAutoNum type="arabicPeriod"/>
            </a:pPr>
            <a:r>
              <a:rPr lang="en-US" sz="2500" dirty="0"/>
              <a:t>Starting from the discretized equations of motion, it is shown that the framework results in low uncertainty at each step. The boundary condition identification method is validated by a numerical example. </a:t>
            </a:r>
          </a:p>
          <a:p>
            <a:pPr marL="457200" indent="-457200">
              <a:buFont typeface="+mj-lt"/>
              <a:buAutoNum type="arabicPeriod"/>
            </a:pPr>
            <a:r>
              <a:rPr lang="en-US" sz="2500" dirty="0"/>
              <a:t>In an experimental investigation using laser doppler vibrometers, the influence of accelerometers and their cables are experimentally illustrated. A simple lumped parameter model for compensation is suggested, and the validity of the model is investigated.</a:t>
            </a:r>
          </a:p>
          <a:p>
            <a:pPr marL="457200" indent="-457200">
              <a:buFont typeface="+mj-lt"/>
              <a:buAutoNum type="arabicPeriod"/>
            </a:pPr>
            <a:r>
              <a:rPr lang="en-US" sz="2500" dirty="0"/>
              <a:t>By implementing the framework for model generation and updating as well as the boundary condition identification, sensor correlation on high SNR locations close to boundaries is permitted, and the lumped bearing load is estimated over a wide frequency range.</a:t>
            </a:r>
          </a:p>
        </p:txBody>
      </p:sp>
      <p:sp>
        <p:nvSpPr>
          <p:cNvPr id="2" name="Rectangle 1">
            <a:extLst>
              <a:ext uri="{FF2B5EF4-FFF2-40B4-BE49-F238E27FC236}">
                <a16:creationId xmlns:a16="http://schemas.microsoft.com/office/drawing/2014/main" id="{72F1409D-5FD1-D5CE-2831-770CDC606FF6}"/>
              </a:ext>
            </a:extLst>
          </p:cNvPr>
          <p:cNvSpPr/>
          <p:nvPr/>
        </p:nvSpPr>
        <p:spPr>
          <a:xfrm>
            <a:off x="117638" y="111876"/>
            <a:ext cx="263214" cy="400110"/>
          </a:xfrm>
          <a:prstGeom prst="rect">
            <a:avLst/>
          </a:prstGeom>
        </p:spPr>
        <p:txBody>
          <a:bodyPr wrap="none">
            <a:spAutoFit/>
          </a:bodyPr>
          <a:lstStyle/>
          <a:p>
            <a:r>
              <a:rPr lang="en-US" sz="2000" b="1" dirty="0">
                <a:solidFill>
                  <a:schemeClr val="bg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814448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17424-92F2-884D-E581-8F556E0D75E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D8C50D7-A263-1654-0DBA-A6032AD4A4D8}"/>
              </a:ext>
            </a:extLst>
          </p:cNvPr>
          <p:cNvSpPr>
            <a:spLocks noGrp="1"/>
          </p:cNvSpPr>
          <p:nvPr>
            <p:ph type="sldNum" sz="quarter" idx="12"/>
          </p:nvPr>
        </p:nvSpPr>
        <p:spPr/>
        <p:txBody>
          <a:bodyPr/>
          <a:lstStyle/>
          <a:p>
            <a:fld id="{0A297500-7527-634B-90F4-69D0994C32B4}" type="slidenum">
              <a:rPr lang="nl-NL" smtClean="0"/>
              <a:t>2</a:t>
            </a:fld>
            <a:endParaRPr lang="nl-NL"/>
          </a:p>
        </p:txBody>
      </p:sp>
      <p:sp>
        <p:nvSpPr>
          <p:cNvPr id="10" name="Rectangle 9">
            <a:extLst>
              <a:ext uri="{FF2B5EF4-FFF2-40B4-BE49-F238E27FC236}">
                <a16:creationId xmlns:a16="http://schemas.microsoft.com/office/drawing/2014/main" id="{149F384C-A8F0-130D-6287-E4B162F99FD9}"/>
              </a:ext>
            </a:extLst>
          </p:cNvPr>
          <p:cNvSpPr/>
          <p:nvPr/>
        </p:nvSpPr>
        <p:spPr>
          <a:xfrm>
            <a:off x="0" y="-560"/>
            <a:ext cx="12192000" cy="640080"/>
          </a:xfrm>
          <a:prstGeom prst="rect">
            <a:avLst/>
          </a:prstGeom>
          <a:solidFill>
            <a:srgbClr val="1D8DB0"/>
          </a:solidFill>
          <a:ln w="28575">
            <a:noFill/>
          </a:ln>
        </p:spPr>
        <p:txBody>
          <a:bodyPr wrap="square">
            <a:spAutoFit/>
          </a:bodyPr>
          <a:lstStyle/>
          <a:p>
            <a:pPr algn="ctr"/>
            <a:endParaRPr lang="en-US" sz="2000" b="1" dirty="0">
              <a:solidFill>
                <a:srgbClr val="FFFF00"/>
              </a:solidFill>
              <a:latin typeface="Garamond" panose="02020404030301010803" pitchFamily="18" charset="0"/>
            </a:endParaRPr>
          </a:p>
        </p:txBody>
      </p:sp>
      <p:sp>
        <p:nvSpPr>
          <p:cNvPr id="22" name="Content Placeholder 21">
            <a:extLst>
              <a:ext uri="{FF2B5EF4-FFF2-40B4-BE49-F238E27FC236}">
                <a16:creationId xmlns:a16="http://schemas.microsoft.com/office/drawing/2014/main" id="{ED7CF6B0-C5EA-2EF6-3A26-B92AE1AEB3C3}"/>
              </a:ext>
            </a:extLst>
          </p:cNvPr>
          <p:cNvSpPr>
            <a:spLocks noGrp="1"/>
          </p:cNvSpPr>
          <p:nvPr>
            <p:ph idx="1"/>
          </p:nvPr>
        </p:nvSpPr>
        <p:spPr>
          <a:xfrm>
            <a:off x="214313" y="708570"/>
            <a:ext cx="11763374" cy="6037554"/>
          </a:xfrm>
        </p:spPr>
        <p:txBody>
          <a:bodyPr>
            <a:normAutofit fontScale="62500" lnSpcReduction="20000"/>
          </a:bodyPr>
          <a:lstStyle/>
          <a:p>
            <a:pPr marL="0" indent="0">
              <a:buNone/>
            </a:pPr>
            <a:r>
              <a:rPr lang="en-US" dirty="0">
                <a:solidFill>
                  <a:srgbClr val="00B050"/>
                </a:solidFill>
              </a:rPr>
              <a:t>Primary Objective:</a:t>
            </a:r>
          </a:p>
          <a:p>
            <a:pPr marL="457200" lvl="1" indent="0">
              <a:buNone/>
            </a:pPr>
            <a:r>
              <a:rPr lang="en-US" dirty="0"/>
              <a:t>This research aims to enable the indirect estimation of loads in complex mechanical systems, with a specific focus on bearings. The methodology utilizes surface-mounted sensors to avoid the necessity of explicitly modeling rotating components.</a:t>
            </a:r>
          </a:p>
          <a:p>
            <a:pPr marL="0" indent="0">
              <a:buNone/>
            </a:pPr>
            <a:r>
              <a:rPr lang="en-US" dirty="0">
                <a:solidFill>
                  <a:schemeClr val="accent2">
                    <a:lumMod val="75000"/>
                  </a:schemeClr>
                </a:solidFill>
              </a:rPr>
              <a:t>Motivation:</a:t>
            </a:r>
          </a:p>
          <a:p>
            <a:pPr marL="457200" indent="-457200">
              <a:buFont typeface="+mj-lt"/>
              <a:buAutoNum type="arabicPeriod"/>
            </a:pPr>
            <a:r>
              <a:rPr lang="en-US" dirty="0"/>
              <a:t>The prohibitive cost of force cells for direct load measurement or, in some cases, infeasibility of it.</a:t>
            </a:r>
          </a:p>
          <a:p>
            <a:pPr marL="457200" indent="-457200">
              <a:buFont typeface="+mj-lt"/>
              <a:buAutoNum type="arabicPeriod"/>
            </a:pPr>
            <a:r>
              <a:rPr lang="en-US" dirty="0"/>
              <a:t>The experimental complexity of placing sensors in harsh environments (e.g., on shafts inside gearboxes).</a:t>
            </a:r>
          </a:p>
          <a:p>
            <a:pPr marL="457200" indent="-457200">
              <a:buFont typeface="+mj-lt"/>
              <a:buAutoNum type="arabicPeriod"/>
            </a:pPr>
            <a:r>
              <a:rPr lang="en-US" dirty="0"/>
              <a:t>The numerical cost and complexity associated with full-scale modeling of rotating components.</a:t>
            </a:r>
          </a:p>
          <a:p>
            <a:pPr marL="0" indent="0">
              <a:buNone/>
            </a:pPr>
            <a:r>
              <a:rPr lang="en-US" dirty="0"/>
              <a:t>Research</a:t>
            </a:r>
            <a:r>
              <a:rPr lang="en-US" dirty="0">
                <a:solidFill>
                  <a:srgbClr val="00B0F0"/>
                </a:solidFill>
              </a:rPr>
              <a:t> contributions </a:t>
            </a:r>
            <a:r>
              <a:rPr lang="en-US" dirty="0"/>
              <a:t>and</a:t>
            </a:r>
            <a:r>
              <a:rPr lang="en-US" dirty="0">
                <a:solidFill>
                  <a:srgbClr val="00B0F0"/>
                </a:solidFill>
              </a:rPr>
              <a:t> </a:t>
            </a:r>
            <a:r>
              <a:rPr lang="en-US" dirty="0">
                <a:solidFill>
                  <a:schemeClr val="accent5">
                    <a:lumMod val="75000"/>
                  </a:schemeClr>
                </a:solidFill>
              </a:rPr>
              <a:t>approaches</a:t>
            </a:r>
            <a:r>
              <a:rPr lang="en-US" dirty="0"/>
              <a:t>:</a:t>
            </a:r>
            <a:r>
              <a:rPr lang="en-US" dirty="0">
                <a:solidFill>
                  <a:srgbClr val="00B0F0"/>
                </a:solidFill>
              </a:rPr>
              <a:t> </a:t>
            </a:r>
          </a:p>
          <a:p>
            <a:pPr marL="514350" indent="-514350">
              <a:buFont typeface="+mj-lt"/>
              <a:buAutoNum type="arabicPeriod"/>
            </a:pPr>
            <a:r>
              <a:rPr lang="en-US" dirty="0"/>
              <a:t>Model reduction strategies:</a:t>
            </a:r>
            <a:br>
              <a:rPr lang="en-US" dirty="0"/>
            </a:br>
            <a:br>
              <a:rPr lang="en-US" dirty="0"/>
            </a:br>
            <a:r>
              <a:rPr lang="en-US" dirty="0">
                <a:solidFill>
                  <a:srgbClr val="00B0F0"/>
                </a:solidFill>
              </a:rPr>
              <a:t>Contribution</a:t>
            </a:r>
            <a:r>
              <a:rPr lang="en-US" dirty="0"/>
              <a:t>: We demonstrate the critical influence of a minimal reduction basis for load estimation and introduce a novel reduction method specifically designed for systems subject to periodic excitations.</a:t>
            </a:r>
            <a:br>
              <a:rPr lang="en-US" dirty="0"/>
            </a:br>
            <a:br>
              <a:rPr lang="en-US" dirty="0"/>
            </a:br>
            <a:r>
              <a:rPr lang="en-US" dirty="0">
                <a:solidFill>
                  <a:schemeClr val="accent5">
                    <a:lumMod val="75000"/>
                  </a:schemeClr>
                </a:solidFill>
              </a:rPr>
              <a:t>Approach</a:t>
            </a:r>
            <a:r>
              <a:rPr lang="en-US" dirty="0"/>
              <a:t>: We investigate the observability of the reduced system as a function of the number of states. The reduction basis is analytically derived from fundamental equations based on assumed loading conditions. We then evaluate the performance of this novel reduction mode numerically, specifically quantifying the accuracy relative to the precision of the detected frequency.</a:t>
            </a:r>
          </a:p>
          <a:p>
            <a:pPr marL="514350" indent="-514350">
              <a:buFont typeface="+mj-lt"/>
              <a:buAutoNum type="arabicPeriod"/>
            </a:pPr>
            <a:r>
              <a:rPr lang="en-US" dirty="0"/>
              <a:t>Model updating and sensor placement:</a:t>
            </a:r>
            <a:br>
              <a:rPr lang="en-US" dirty="0"/>
            </a:br>
            <a:br>
              <a:rPr lang="en-US" dirty="0"/>
            </a:br>
            <a:r>
              <a:rPr lang="en-US" dirty="0">
                <a:solidFill>
                  <a:srgbClr val="00B0F0"/>
                </a:solidFill>
              </a:rPr>
              <a:t>Contribution: </a:t>
            </a:r>
            <a:r>
              <a:rPr lang="en-US" dirty="0"/>
              <a:t>We establish a systematic framework for representative model building and updating. This enables the precise identification of boundary conditions and guides sensor placement to maximize the Signal-to-Noise Ratio (SNR), thereby improving estimation performance from both modeling and measurement perspectives.</a:t>
            </a:r>
            <a:br>
              <a:rPr lang="en-US" dirty="0"/>
            </a:br>
            <a:br>
              <a:rPr lang="en-US" dirty="0"/>
            </a:br>
            <a:r>
              <a:rPr lang="en-US" dirty="0">
                <a:solidFill>
                  <a:schemeClr val="accent5">
                    <a:lumMod val="75000"/>
                  </a:schemeClr>
                </a:solidFill>
              </a:rPr>
              <a:t>Approach: </a:t>
            </a:r>
            <a:r>
              <a:rPr lang="en-US" dirty="0"/>
              <a:t>Starting from discretized equations of motion, we demonstrate that this framework minimizes uncertainty at each stage. The validity of the boundary condition identification method is subsequently verified through numerical examples.</a:t>
            </a:r>
          </a:p>
        </p:txBody>
      </p:sp>
      <p:sp>
        <p:nvSpPr>
          <p:cNvPr id="2" name="Rectangle 1">
            <a:extLst>
              <a:ext uri="{FF2B5EF4-FFF2-40B4-BE49-F238E27FC236}">
                <a16:creationId xmlns:a16="http://schemas.microsoft.com/office/drawing/2014/main" id="{D4351270-F60F-9BFF-A78A-29B014B7C318}"/>
              </a:ext>
            </a:extLst>
          </p:cNvPr>
          <p:cNvSpPr/>
          <p:nvPr/>
        </p:nvSpPr>
        <p:spPr>
          <a:xfrm>
            <a:off x="117638" y="111876"/>
            <a:ext cx="1405065" cy="400110"/>
          </a:xfrm>
          <a:prstGeom prst="rect">
            <a:avLst/>
          </a:prstGeom>
        </p:spPr>
        <p:txBody>
          <a:bodyPr wrap="none">
            <a:spAutoFit/>
          </a:bodyPr>
          <a:lstStyle/>
          <a:p>
            <a:r>
              <a:rPr lang="en-US" sz="2000" b="1" dirty="0">
                <a:solidFill>
                  <a:schemeClr val="bg1"/>
                </a:solidFill>
                <a:latin typeface="Calibri" panose="020F0502020204030204" pitchFamily="34" charset="0"/>
                <a:cs typeface="Calibri" panose="020F0502020204030204" pitchFamily="34" charset="0"/>
              </a:rPr>
              <a:t>- </a:t>
            </a:r>
            <a:r>
              <a:rPr lang="en-US" sz="2000" b="1" dirty="0" err="1">
                <a:solidFill>
                  <a:schemeClr val="bg1"/>
                </a:solidFill>
                <a:latin typeface="Calibri" panose="020F0502020204030204" pitchFamily="34" charset="0"/>
                <a:cs typeface="Calibri" panose="020F0502020204030204" pitchFamily="34" charset="0"/>
              </a:rPr>
              <a:t>Gemini’ed</a:t>
            </a:r>
            <a:endParaRPr lang="en-US" sz="20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60586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B672E-5421-512C-BB55-31033242067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E8713FD-87DD-4605-DEFD-483ECE0A22D0}"/>
              </a:ext>
            </a:extLst>
          </p:cNvPr>
          <p:cNvSpPr>
            <a:spLocks noGrp="1"/>
          </p:cNvSpPr>
          <p:nvPr>
            <p:ph type="sldNum" sz="quarter" idx="12"/>
          </p:nvPr>
        </p:nvSpPr>
        <p:spPr/>
        <p:txBody>
          <a:bodyPr/>
          <a:lstStyle/>
          <a:p>
            <a:fld id="{0A297500-7527-634B-90F4-69D0994C32B4}" type="slidenum">
              <a:rPr lang="nl-NL" smtClean="0"/>
              <a:t>3</a:t>
            </a:fld>
            <a:endParaRPr lang="nl-NL"/>
          </a:p>
        </p:txBody>
      </p:sp>
      <p:sp>
        <p:nvSpPr>
          <p:cNvPr id="10" name="Rectangle 9">
            <a:extLst>
              <a:ext uri="{FF2B5EF4-FFF2-40B4-BE49-F238E27FC236}">
                <a16:creationId xmlns:a16="http://schemas.microsoft.com/office/drawing/2014/main" id="{52A24AB6-0536-DE71-7C4A-2EED431FA622}"/>
              </a:ext>
            </a:extLst>
          </p:cNvPr>
          <p:cNvSpPr/>
          <p:nvPr/>
        </p:nvSpPr>
        <p:spPr>
          <a:xfrm>
            <a:off x="0" y="-560"/>
            <a:ext cx="12192000" cy="640080"/>
          </a:xfrm>
          <a:prstGeom prst="rect">
            <a:avLst/>
          </a:prstGeom>
          <a:solidFill>
            <a:srgbClr val="1D8DB0"/>
          </a:solidFill>
          <a:ln w="28575">
            <a:noFill/>
          </a:ln>
        </p:spPr>
        <p:txBody>
          <a:bodyPr wrap="square">
            <a:spAutoFit/>
          </a:bodyPr>
          <a:lstStyle/>
          <a:p>
            <a:pPr algn="ctr"/>
            <a:endParaRPr lang="en-US" sz="2000" b="1" dirty="0">
              <a:solidFill>
                <a:srgbClr val="FFFF00"/>
              </a:solidFill>
              <a:latin typeface="Garamond" panose="02020404030301010803" pitchFamily="18" charset="0"/>
            </a:endParaRPr>
          </a:p>
        </p:txBody>
      </p:sp>
      <p:sp>
        <p:nvSpPr>
          <p:cNvPr id="22" name="Content Placeholder 21">
            <a:extLst>
              <a:ext uri="{FF2B5EF4-FFF2-40B4-BE49-F238E27FC236}">
                <a16:creationId xmlns:a16="http://schemas.microsoft.com/office/drawing/2014/main" id="{F9E52EF1-331B-19B7-3588-F62FEC00B522}"/>
              </a:ext>
            </a:extLst>
          </p:cNvPr>
          <p:cNvSpPr>
            <a:spLocks noGrp="1"/>
          </p:cNvSpPr>
          <p:nvPr>
            <p:ph idx="1"/>
          </p:nvPr>
        </p:nvSpPr>
        <p:spPr>
          <a:xfrm>
            <a:off x="214313" y="708571"/>
            <a:ext cx="11763374" cy="5930354"/>
          </a:xfrm>
        </p:spPr>
        <p:txBody>
          <a:bodyPr>
            <a:normAutofit fontScale="85000" lnSpcReduction="20000"/>
          </a:bodyPr>
          <a:lstStyle/>
          <a:p>
            <a:pPr marL="514350" indent="-514350">
              <a:buFont typeface="+mj-lt"/>
              <a:buAutoNum type="arabicPeriod" startAt="3"/>
            </a:pPr>
            <a:r>
              <a:rPr lang="en-US" dirty="0"/>
              <a:t>Experimental Fidelity (Cables &amp; Damping):</a:t>
            </a:r>
            <a:br>
              <a:rPr lang="en-US" dirty="0"/>
            </a:br>
            <a:br>
              <a:rPr lang="en-US" dirty="0"/>
            </a:br>
            <a:r>
              <a:rPr lang="en-US" dirty="0">
                <a:solidFill>
                  <a:srgbClr val="00B0F0"/>
                </a:solidFill>
              </a:rPr>
              <a:t>Contribution</a:t>
            </a:r>
            <a:r>
              <a:rPr lang="en-US" dirty="0"/>
              <a:t>: We highlight the significant impact of sensors and their cabling on experimental data quality—particularly regarding damping parameters—and propose simplified models to accurately account for or compensate for these influences.</a:t>
            </a:r>
            <a:br>
              <a:rPr lang="en-US" dirty="0"/>
            </a:br>
            <a:br>
              <a:rPr lang="en-US" dirty="0"/>
            </a:br>
            <a:r>
              <a:rPr lang="en-US" dirty="0">
                <a:solidFill>
                  <a:schemeClr val="accent5">
                    <a:lumMod val="75000"/>
                  </a:schemeClr>
                </a:solidFill>
              </a:rPr>
              <a:t>Approach</a:t>
            </a:r>
            <a:r>
              <a:rPr lang="en-US" dirty="0"/>
              <a:t>: Using Laser Doppler Vibrometers (LDV) for non-contact validation, we experimentally isolate the influence of accelerometers and their cables. We then propose and validate a simple lumped-parameter model to compensate for these mass and damping effects.</a:t>
            </a:r>
          </a:p>
          <a:p>
            <a:pPr marL="514350" indent="-514350">
              <a:buFont typeface="+mj-lt"/>
              <a:buAutoNum type="arabicPeriod" startAt="3"/>
            </a:pPr>
            <a:r>
              <a:rPr lang="en-US" dirty="0"/>
              <a:t>Industrial Validation:</a:t>
            </a:r>
            <a:br>
              <a:rPr lang="en-US" dirty="0"/>
            </a:br>
            <a:br>
              <a:rPr lang="en-US" dirty="0"/>
            </a:br>
            <a:r>
              <a:rPr lang="en-US" dirty="0">
                <a:solidFill>
                  <a:srgbClr val="00B0F0"/>
                </a:solidFill>
              </a:rPr>
              <a:t>Contribution: </a:t>
            </a:r>
            <a:r>
              <a:rPr lang="en-US" dirty="0"/>
              <a:t>We apply the model generation framework and load estimation methodology to a setup of industrial complexity, providing experimental validation for the bearing load estimation procedure.</a:t>
            </a:r>
            <a:br>
              <a:rPr lang="en-US" dirty="0"/>
            </a:br>
            <a:br>
              <a:rPr lang="en-US" dirty="0"/>
            </a:br>
            <a:r>
              <a:rPr lang="en-US" dirty="0">
                <a:solidFill>
                  <a:schemeClr val="accent5">
                    <a:lumMod val="75000"/>
                  </a:schemeClr>
                </a:solidFill>
              </a:rPr>
              <a:t>Approach: </a:t>
            </a:r>
            <a:r>
              <a:rPr lang="en-US" dirty="0"/>
              <a:t>By implementing the full framework—including model updating and boundary condition identification—we enable sensor correlation at high-SNR locations near boundaries. This allows for the accurate estimation of the lumped bearing load over a wide frequency range.</a:t>
            </a:r>
          </a:p>
        </p:txBody>
      </p:sp>
      <p:sp>
        <p:nvSpPr>
          <p:cNvPr id="2" name="Rectangle 1">
            <a:extLst>
              <a:ext uri="{FF2B5EF4-FFF2-40B4-BE49-F238E27FC236}">
                <a16:creationId xmlns:a16="http://schemas.microsoft.com/office/drawing/2014/main" id="{458B8A7F-95F9-9FA9-A1FB-916AF6A8CB68}"/>
              </a:ext>
            </a:extLst>
          </p:cNvPr>
          <p:cNvSpPr/>
          <p:nvPr/>
        </p:nvSpPr>
        <p:spPr>
          <a:xfrm>
            <a:off x="117638" y="111876"/>
            <a:ext cx="1405065" cy="400110"/>
          </a:xfrm>
          <a:prstGeom prst="rect">
            <a:avLst/>
          </a:prstGeom>
        </p:spPr>
        <p:txBody>
          <a:bodyPr wrap="none">
            <a:spAutoFit/>
          </a:bodyPr>
          <a:lstStyle/>
          <a:p>
            <a:r>
              <a:rPr lang="en-US" sz="2000" b="1" dirty="0">
                <a:solidFill>
                  <a:schemeClr val="bg1"/>
                </a:solidFill>
                <a:latin typeface="Calibri" panose="020F0502020204030204" pitchFamily="34" charset="0"/>
                <a:cs typeface="Calibri" panose="020F0502020204030204" pitchFamily="34" charset="0"/>
              </a:rPr>
              <a:t>- </a:t>
            </a:r>
            <a:r>
              <a:rPr lang="en-US" sz="2000" b="1" dirty="0" err="1">
                <a:solidFill>
                  <a:schemeClr val="bg1"/>
                </a:solidFill>
                <a:latin typeface="Calibri" panose="020F0502020204030204" pitchFamily="34" charset="0"/>
                <a:cs typeface="Calibri" panose="020F0502020204030204" pitchFamily="34" charset="0"/>
              </a:rPr>
              <a:t>Gemini’ed</a:t>
            </a:r>
            <a:endParaRPr lang="en-US" sz="20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99841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Mechanical Engineering, Division LMSD, Noise &amp; Vibration Research Group</a:t>
            </a:r>
            <a:endParaRPr lang="nl-NL"/>
          </a:p>
        </p:txBody>
      </p:sp>
      <p:sp>
        <p:nvSpPr>
          <p:cNvPr id="4" name="Slide Number Placeholder 3"/>
          <p:cNvSpPr>
            <a:spLocks noGrp="1"/>
          </p:cNvSpPr>
          <p:nvPr>
            <p:ph type="sldNum" sz="quarter" idx="12"/>
          </p:nvPr>
        </p:nvSpPr>
        <p:spPr/>
        <p:txBody>
          <a:bodyPr/>
          <a:lstStyle/>
          <a:p>
            <a:fld id="{0A297500-7527-634B-90F4-69D0994C32B4}" type="slidenum">
              <a:rPr lang="nl-NL" smtClean="0"/>
              <a:t>4</a:t>
            </a:fld>
            <a:endParaRPr lang="nl-NL"/>
          </a:p>
        </p:txBody>
      </p:sp>
      <p:sp>
        <p:nvSpPr>
          <p:cNvPr id="10" name="Rectangle 9">
            <a:extLst>
              <a:ext uri="{FF2B5EF4-FFF2-40B4-BE49-F238E27FC236}">
                <a16:creationId xmlns:a16="http://schemas.microsoft.com/office/drawing/2014/main" id="{5AD6B1CE-FEAC-4031-8AE4-2FD263BC2645}"/>
              </a:ext>
            </a:extLst>
          </p:cNvPr>
          <p:cNvSpPr/>
          <p:nvPr/>
        </p:nvSpPr>
        <p:spPr>
          <a:xfrm>
            <a:off x="0" y="-560"/>
            <a:ext cx="12192000" cy="640080"/>
          </a:xfrm>
          <a:prstGeom prst="rect">
            <a:avLst/>
          </a:prstGeom>
          <a:solidFill>
            <a:srgbClr val="1D8DB0"/>
          </a:solidFill>
          <a:ln w="28575">
            <a:noFill/>
          </a:ln>
        </p:spPr>
        <p:txBody>
          <a:bodyPr wrap="square">
            <a:spAutoFit/>
          </a:bodyPr>
          <a:lstStyle/>
          <a:p>
            <a:pPr algn="ctr"/>
            <a:endParaRPr lang="en-US" sz="2000" b="1" dirty="0">
              <a:solidFill>
                <a:srgbClr val="FFFF00"/>
              </a:solidFill>
              <a:latin typeface="Garamond" panose="02020404030301010803" pitchFamily="18" charset="0"/>
            </a:endParaRPr>
          </a:p>
        </p:txBody>
      </p:sp>
      <p:sp>
        <p:nvSpPr>
          <p:cNvPr id="5" name="TextBox 4">
            <a:extLst>
              <a:ext uri="{FF2B5EF4-FFF2-40B4-BE49-F238E27FC236}">
                <a16:creationId xmlns:a16="http://schemas.microsoft.com/office/drawing/2014/main" id="{00141722-AF69-4A45-9411-8965C6623F4A}"/>
              </a:ext>
            </a:extLst>
          </p:cNvPr>
          <p:cNvSpPr txBox="1"/>
          <p:nvPr/>
        </p:nvSpPr>
        <p:spPr>
          <a:xfrm>
            <a:off x="117638" y="708571"/>
            <a:ext cx="11984201" cy="369332"/>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On Objectives, Contributions and Approaches</a:t>
            </a:r>
          </a:p>
        </p:txBody>
      </p:sp>
      <p:sp>
        <p:nvSpPr>
          <p:cNvPr id="22" name="Content Placeholder 21">
            <a:extLst>
              <a:ext uri="{FF2B5EF4-FFF2-40B4-BE49-F238E27FC236}">
                <a16:creationId xmlns:a16="http://schemas.microsoft.com/office/drawing/2014/main" id="{AEB665DB-8790-DC34-E9B8-A45B768BADA4}"/>
              </a:ext>
            </a:extLst>
          </p:cNvPr>
          <p:cNvSpPr>
            <a:spLocks noGrp="1"/>
          </p:cNvSpPr>
          <p:nvPr>
            <p:ph idx="1"/>
          </p:nvPr>
        </p:nvSpPr>
        <p:spPr>
          <a:xfrm>
            <a:off x="576000" y="1656000"/>
            <a:ext cx="5599513" cy="4464000"/>
          </a:xfrm>
        </p:spPr>
        <p:txBody>
          <a:bodyPr>
            <a:normAutofit fontScale="92500" lnSpcReduction="10000"/>
          </a:bodyPr>
          <a:lstStyle/>
          <a:p>
            <a:pPr marL="0" indent="0">
              <a:buNone/>
            </a:pPr>
            <a:r>
              <a:rPr lang="en-US" dirty="0">
                <a:solidFill>
                  <a:srgbClr val="00B050"/>
                </a:solidFill>
              </a:rPr>
              <a:t>Research objective(s):</a:t>
            </a:r>
          </a:p>
          <a:p>
            <a:pPr marL="0" indent="0" algn="just">
              <a:buNone/>
            </a:pPr>
            <a:r>
              <a:rPr lang="en-US" sz="1800" dirty="0"/>
              <a:t>The overarching aim or goal of this research is to […]. </a:t>
            </a:r>
          </a:p>
          <a:p>
            <a:pPr marL="0" indent="0" algn="just">
              <a:buNone/>
            </a:pPr>
            <a:r>
              <a:rPr lang="en-US" sz="1800" dirty="0"/>
              <a:t>This goal can be supported by several specific objectives, typically grouped into focused research questions. These questions guide the inquiry and shape the structure of the dissertation, ensuring that each aspect of the research contributes meaningfully toward the overall aim.</a:t>
            </a:r>
          </a:p>
          <a:p>
            <a:pPr marL="0" indent="0" algn="just">
              <a:buNone/>
            </a:pPr>
            <a:r>
              <a:rPr lang="en-US" dirty="0">
                <a:solidFill>
                  <a:srgbClr val="00B0F0"/>
                </a:solidFill>
              </a:rPr>
              <a:t>Research contributions: </a:t>
            </a:r>
          </a:p>
          <a:p>
            <a:pPr marL="0" indent="0" algn="just">
              <a:buNone/>
            </a:pPr>
            <a:r>
              <a:rPr lang="en-US" sz="1800" dirty="0"/>
              <a:t>The contributions address the research objectives and provide novel understanding, methods, or tools relevant to the field. They present the learnings of the research.</a:t>
            </a:r>
          </a:p>
          <a:p>
            <a:pPr marL="0" indent="0" algn="just">
              <a:buNone/>
            </a:pPr>
            <a:r>
              <a:rPr lang="en-US" dirty="0">
                <a:solidFill>
                  <a:schemeClr val="accent5">
                    <a:lumMod val="75000"/>
                  </a:schemeClr>
                </a:solidFill>
              </a:rPr>
              <a:t>Research approaches:</a:t>
            </a:r>
          </a:p>
          <a:p>
            <a:pPr marL="0" indent="0" algn="just">
              <a:buNone/>
            </a:pPr>
            <a:r>
              <a:rPr lang="en-US" sz="1800" dirty="0"/>
              <a:t>To validate the proposed contributions and support the research claims, a combination of approaches is employed. These approaches can be state-of-the-art.</a:t>
            </a:r>
          </a:p>
        </p:txBody>
      </p:sp>
      <p:graphicFrame>
        <p:nvGraphicFramePr>
          <p:cNvPr id="2" name="Diagram 1">
            <a:extLst>
              <a:ext uri="{FF2B5EF4-FFF2-40B4-BE49-F238E27FC236}">
                <a16:creationId xmlns:a16="http://schemas.microsoft.com/office/drawing/2014/main" id="{4962FF86-2097-5F96-F8F2-D50F726DC56D}"/>
              </a:ext>
            </a:extLst>
          </p:cNvPr>
          <p:cNvGraphicFramePr/>
          <p:nvPr/>
        </p:nvGraphicFramePr>
        <p:xfrm>
          <a:off x="6241775" y="1872381"/>
          <a:ext cx="5374226" cy="40312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tangle 5">
            <a:extLst>
              <a:ext uri="{FF2B5EF4-FFF2-40B4-BE49-F238E27FC236}">
                <a16:creationId xmlns:a16="http://schemas.microsoft.com/office/drawing/2014/main" id="{91885470-FA4D-5936-3051-865B42ED1AFB}"/>
              </a:ext>
            </a:extLst>
          </p:cNvPr>
          <p:cNvSpPr/>
          <p:nvPr/>
        </p:nvSpPr>
        <p:spPr>
          <a:xfrm>
            <a:off x="117638" y="111876"/>
            <a:ext cx="4484433" cy="400110"/>
          </a:xfrm>
          <a:prstGeom prst="rect">
            <a:avLst/>
          </a:prstGeom>
        </p:spPr>
        <p:txBody>
          <a:bodyPr wrap="none">
            <a:spAutoFit/>
          </a:bodyPr>
          <a:lstStyle/>
          <a:p>
            <a:r>
              <a:rPr lang="en-US" sz="2000" b="1" dirty="0">
                <a:solidFill>
                  <a:schemeClr val="bg1"/>
                </a:solidFill>
                <a:latin typeface="Calibri" panose="020F0502020204030204" pitchFamily="34" charset="0"/>
                <a:cs typeface="Calibri" panose="020F0502020204030204" pitchFamily="34" charset="0"/>
              </a:rPr>
              <a:t>Draft document: to be updated by LMSD</a:t>
            </a:r>
          </a:p>
        </p:txBody>
      </p:sp>
    </p:spTree>
    <p:extLst>
      <p:ext uri="{BB962C8B-B14F-4D97-AF65-F5344CB8AC3E}">
        <p14:creationId xmlns:p14="http://schemas.microsoft.com/office/powerpoint/2010/main" val="2696404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Mechanical Engineering, Division LMSD, Noise &amp; Vibration Research Group</a:t>
            </a:r>
            <a:endParaRPr lang="nl-NL"/>
          </a:p>
        </p:txBody>
      </p:sp>
      <p:sp>
        <p:nvSpPr>
          <p:cNvPr id="4" name="Slide Number Placeholder 3"/>
          <p:cNvSpPr>
            <a:spLocks noGrp="1"/>
          </p:cNvSpPr>
          <p:nvPr>
            <p:ph type="sldNum" sz="quarter" idx="12"/>
          </p:nvPr>
        </p:nvSpPr>
        <p:spPr/>
        <p:txBody>
          <a:bodyPr/>
          <a:lstStyle/>
          <a:p>
            <a:fld id="{0A297500-7527-634B-90F4-69D0994C32B4}" type="slidenum">
              <a:rPr lang="nl-NL" smtClean="0"/>
              <a:t>5</a:t>
            </a:fld>
            <a:endParaRPr lang="nl-NL"/>
          </a:p>
        </p:txBody>
      </p:sp>
      <p:sp>
        <p:nvSpPr>
          <p:cNvPr id="10" name="Rectangle 9">
            <a:extLst>
              <a:ext uri="{FF2B5EF4-FFF2-40B4-BE49-F238E27FC236}">
                <a16:creationId xmlns:a16="http://schemas.microsoft.com/office/drawing/2014/main" id="{5AD6B1CE-FEAC-4031-8AE4-2FD263BC2645}"/>
              </a:ext>
            </a:extLst>
          </p:cNvPr>
          <p:cNvSpPr/>
          <p:nvPr/>
        </p:nvSpPr>
        <p:spPr>
          <a:xfrm>
            <a:off x="0" y="-560"/>
            <a:ext cx="12192000" cy="640080"/>
          </a:xfrm>
          <a:prstGeom prst="rect">
            <a:avLst/>
          </a:prstGeom>
          <a:solidFill>
            <a:srgbClr val="1D8DB0"/>
          </a:solidFill>
          <a:ln w="28575">
            <a:noFill/>
          </a:ln>
        </p:spPr>
        <p:txBody>
          <a:bodyPr wrap="square">
            <a:spAutoFit/>
          </a:bodyPr>
          <a:lstStyle/>
          <a:p>
            <a:pPr algn="ctr"/>
            <a:endParaRPr lang="en-US" sz="2000" b="1" dirty="0">
              <a:solidFill>
                <a:srgbClr val="FFFF00"/>
              </a:solidFill>
              <a:latin typeface="Garamond" panose="02020404030301010803" pitchFamily="18" charset="0"/>
            </a:endParaRPr>
          </a:p>
        </p:txBody>
      </p:sp>
      <p:sp>
        <p:nvSpPr>
          <p:cNvPr id="5" name="TextBox 4">
            <a:extLst>
              <a:ext uri="{FF2B5EF4-FFF2-40B4-BE49-F238E27FC236}">
                <a16:creationId xmlns:a16="http://schemas.microsoft.com/office/drawing/2014/main" id="{00141722-AF69-4A45-9411-8965C6623F4A}"/>
              </a:ext>
            </a:extLst>
          </p:cNvPr>
          <p:cNvSpPr txBox="1"/>
          <p:nvPr/>
        </p:nvSpPr>
        <p:spPr>
          <a:xfrm>
            <a:off x="117638" y="708571"/>
            <a:ext cx="11984201" cy="646331"/>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On Objectives, Contributions and Approaches - Example</a:t>
            </a:r>
            <a:endParaRPr lang="en-US" b="1" dirty="0"/>
          </a:p>
          <a:p>
            <a:endParaRPr lang="en-US" b="1" dirty="0">
              <a:latin typeface="Calibri" panose="020F0502020204030204" pitchFamily="34" charset="0"/>
              <a:cs typeface="Calibri" panose="020F0502020204030204" pitchFamily="34" charset="0"/>
            </a:endParaRPr>
          </a:p>
        </p:txBody>
      </p:sp>
      <p:sp>
        <p:nvSpPr>
          <p:cNvPr id="22" name="Content Placeholder 21">
            <a:extLst>
              <a:ext uri="{FF2B5EF4-FFF2-40B4-BE49-F238E27FC236}">
                <a16:creationId xmlns:a16="http://schemas.microsoft.com/office/drawing/2014/main" id="{AEB665DB-8790-DC34-E9B8-A45B768BADA4}"/>
              </a:ext>
            </a:extLst>
          </p:cNvPr>
          <p:cNvSpPr>
            <a:spLocks noGrp="1"/>
          </p:cNvSpPr>
          <p:nvPr>
            <p:ph idx="1"/>
          </p:nvPr>
        </p:nvSpPr>
        <p:spPr>
          <a:xfrm>
            <a:off x="576000" y="1656000"/>
            <a:ext cx="11042913" cy="4464000"/>
          </a:xfrm>
        </p:spPr>
        <p:txBody>
          <a:bodyPr>
            <a:normAutofit fontScale="77500" lnSpcReduction="20000"/>
          </a:bodyPr>
          <a:lstStyle/>
          <a:p>
            <a:pPr marL="0" indent="0">
              <a:buNone/>
            </a:pPr>
            <a:r>
              <a:rPr lang="en-US" dirty="0">
                <a:solidFill>
                  <a:srgbClr val="00B050"/>
                </a:solidFill>
              </a:rPr>
              <a:t>Research objectives:</a:t>
            </a:r>
          </a:p>
          <a:p>
            <a:pPr marL="0" indent="0">
              <a:buNone/>
            </a:pPr>
            <a:r>
              <a:rPr lang="en-US" dirty="0"/>
              <a:t>This research aims to enable high-fidelity and bandwidth-aware estimation of states, inputs, and parameters in complex dynamical systems.</a:t>
            </a:r>
          </a:p>
          <a:p>
            <a:pPr marL="0" indent="0">
              <a:buNone/>
            </a:pPr>
            <a:endParaRPr lang="en-US" dirty="0"/>
          </a:p>
          <a:p>
            <a:pPr marL="0" indent="0">
              <a:buNone/>
            </a:pPr>
            <a:r>
              <a:rPr lang="en-US" dirty="0">
                <a:solidFill>
                  <a:srgbClr val="00B0F0"/>
                </a:solidFill>
              </a:rPr>
              <a:t>Research contribution: </a:t>
            </a:r>
          </a:p>
          <a:p>
            <a:pPr marL="0" indent="0">
              <a:buNone/>
            </a:pPr>
            <a:r>
              <a:rPr lang="en-US" dirty="0"/>
              <a:t>We illustrate and exploit the interrelationship between the degree of observability of individual states, estimation performance and the impact on instrumentation.</a:t>
            </a:r>
          </a:p>
          <a:p>
            <a:pPr marL="0" indent="0">
              <a:buNone/>
            </a:pPr>
            <a:endParaRPr lang="en-US" dirty="0">
              <a:solidFill>
                <a:srgbClr val="00B0F0"/>
              </a:solidFill>
            </a:endParaRPr>
          </a:p>
          <a:p>
            <a:pPr marL="0" indent="0">
              <a:buNone/>
            </a:pPr>
            <a:r>
              <a:rPr lang="en-US" dirty="0">
                <a:solidFill>
                  <a:schemeClr val="accent5">
                    <a:lumMod val="75000"/>
                  </a:schemeClr>
                </a:solidFill>
              </a:rPr>
              <a:t>Research approaches:</a:t>
            </a:r>
          </a:p>
          <a:p>
            <a:pPr marL="457200" indent="-457200">
              <a:buFont typeface="+mj-lt"/>
              <a:buAutoNum type="arabicPeriod"/>
            </a:pPr>
            <a:r>
              <a:rPr lang="en-US" sz="2500" dirty="0"/>
              <a:t>To achieve this, a novel </a:t>
            </a:r>
            <a:r>
              <a:rPr lang="en-US" sz="2500" dirty="0" err="1"/>
              <a:t>Gramian</a:t>
            </a:r>
            <a:r>
              <a:rPr lang="en-US" sz="2500" dirty="0"/>
              <a:t>-based observability metric is proposed for analyzing coupled vibroacoustic systems. This metric enables the identification of highly observable modes or states, particularly within specific frequency bands, enhancing estimation performance.</a:t>
            </a:r>
          </a:p>
          <a:p>
            <a:pPr marL="457200" indent="-457200">
              <a:buFont typeface="+mj-lt"/>
              <a:buAutoNum type="arabicPeriod"/>
            </a:pPr>
            <a:r>
              <a:rPr lang="en-US" sz="2500" dirty="0"/>
              <a:t>Experimental validation </a:t>
            </a:r>
            <a:r>
              <a:rPr lang="en-US" sz="2500" dirty="0" err="1"/>
              <a:t>showns</a:t>
            </a:r>
            <a:r>
              <a:rPr lang="en-US" sz="2500" dirty="0"/>
              <a:t> that the proposed criterion outperforms state-of-the-art observability metrics in sensor placement tasks, resulting in more accurate estimation of targeted states.</a:t>
            </a:r>
          </a:p>
        </p:txBody>
      </p:sp>
      <p:sp>
        <p:nvSpPr>
          <p:cNvPr id="2" name="Rectangle 1">
            <a:extLst>
              <a:ext uri="{FF2B5EF4-FFF2-40B4-BE49-F238E27FC236}">
                <a16:creationId xmlns:a16="http://schemas.microsoft.com/office/drawing/2014/main" id="{0AAE5CF8-6DFC-DB88-4238-9FB3E6B84BBA}"/>
              </a:ext>
            </a:extLst>
          </p:cNvPr>
          <p:cNvSpPr/>
          <p:nvPr/>
        </p:nvSpPr>
        <p:spPr>
          <a:xfrm>
            <a:off x="117638" y="111876"/>
            <a:ext cx="4484433" cy="400110"/>
          </a:xfrm>
          <a:prstGeom prst="rect">
            <a:avLst/>
          </a:prstGeom>
        </p:spPr>
        <p:txBody>
          <a:bodyPr wrap="none">
            <a:spAutoFit/>
          </a:bodyPr>
          <a:lstStyle/>
          <a:p>
            <a:r>
              <a:rPr lang="en-US" sz="2000" b="1" dirty="0">
                <a:solidFill>
                  <a:schemeClr val="bg1"/>
                </a:solidFill>
                <a:latin typeface="Calibri" panose="020F0502020204030204" pitchFamily="34" charset="0"/>
                <a:cs typeface="Calibri" panose="020F0502020204030204" pitchFamily="34" charset="0"/>
              </a:rPr>
              <a:t>Draft document: to be updated by LMSD</a:t>
            </a:r>
          </a:p>
        </p:txBody>
      </p:sp>
    </p:spTree>
    <p:extLst>
      <p:ext uri="{BB962C8B-B14F-4D97-AF65-F5344CB8AC3E}">
        <p14:creationId xmlns:p14="http://schemas.microsoft.com/office/powerpoint/2010/main" val="11462639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1520</TotalTime>
  <Words>1237</Words>
  <Application>Microsoft Office PowerPoint</Application>
  <PresentationFormat>Widescreen</PresentationFormat>
  <Paragraphs>72</Paragraphs>
  <Slides>5</Slides>
  <Notes>5</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Calibri</vt:lpstr>
      <vt:lpstr>Garamond</vt:lpstr>
      <vt:lpstr>Office Theme</vt:lpstr>
      <vt:lpstr>PowerPoint Presentation</vt:lpstr>
      <vt:lpstr>PowerPoint Presentation</vt:lpstr>
      <vt:lpstr>PowerPoint Presentation</vt:lpstr>
      <vt:lpstr>PowerPoint Presentation</vt:lpstr>
      <vt:lpstr>PowerPoint Presentation</vt:lpstr>
    </vt:vector>
  </TitlesOfParts>
  <Company>KU Leuven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Iman Sabahi</dc:creator>
  <cp:lastModifiedBy>Iman Sabahi</cp:lastModifiedBy>
  <cp:revision>2</cp:revision>
  <dcterms:created xsi:type="dcterms:W3CDTF">2025-12-03T09:49:38Z</dcterms:created>
  <dcterms:modified xsi:type="dcterms:W3CDTF">2025-12-04T11:10:25Z</dcterms:modified>
</cp:coreProperties>
</file>